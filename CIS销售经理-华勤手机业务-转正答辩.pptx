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开场：沿用部门周报结构汇报。岗位是在华勤卖 CIS。试用期看过程指标，不看尚未发生的定点金额。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强调：格科/思特威/OV 多已在品牌短名单。切入点是第二源、供给对冲、新机型窗口。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结束即提问。回答一律落到：现状灯号、原因、下一步、需要谁。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cs typeface="Microsoft YaHei"/>
                <a:ea typeface="Microsoft YaHei"/>
                <a:solidFill>
                  <a:srgbClr val="C4A35A"/>
                </a:solidFill>
                <a:latin typeface="Microsoft YaHei"/>
              </a:rPr>
              <a:t>市场营销例会  ·  销售与技术服务部周报框架（260824）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3200" b="1">
                <a:cs typeface="Microsoft YaHei"/>
                <a:ea typeface="Microsoft YaHei"/>
                <a:solidFill>
                  <a:srgbClr val="FFFFFF"/>
                </a:solidFill>
                <a:latin typeface="Microsoft YaHei"/>
              </a:rPr>
              <a:t>CIS 销售经理试用期转正答辩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88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>
                <a:cs typeface="Microsoft YaHei"/>
                <a:ea typeface="Microsoft YaHei"/>
                <a:solidFill>
                  <a:srgbClr val="C5D0DC"/>
                </a:solidFill>
                <a:latin typeface="Microsoft YaHei"/>
              </a:rPr>
              <a:t>负责华勤手机业务  ·  销售公司 CIS 芯片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3337560"/>
            <a:ext cx="2103120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703320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>
                <a:cs typeface="Microsoft YaHei"/>
                <a:ea typeface="Microsoft YaHei"/>
                <a:solidFill>
                  <a:srgbClr val="C4A35A"/>
                </a:solidFill>
                <a:latin typeface="Microsoft YaHei"/>
              </a:rPr>
              <a:t>汇报人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977639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cs typeface="Microsoft YaHei"/>
                <a:ea typeface="Microsoft YaHei"/>
                <a:solidFill>
                  <a:srgbClr val="FFFFFF"/>
                </a:solidFill>
                <a:latin typeface="Microsoft YaHei"/>
              </a:rPr>
              <a:t>________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39" y="3703320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>
                <a:cs typeface="Microsoft YaHei"/>
                <a:ea typeface="Microsoft YaHei"/>
                <a:solidFill>
                  <a:srgbClr val="C4A35A"/>
                </a:solidFill>
                <a:latin typeface="Microsoft YaHei"/>
              </a:rPr>
              <a:t>部门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0439" y="3977639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cs typeface="Microsoft YaHei"/>
                <a:ea typeface="Microsoft YaHei"/>
                <a:solidFill>
                  <a:srgbClr val="FFFFFF"/>
                </a:solidFill>
                <a:latin typeface="Microsoft YaHei"/>
              </a:rPr>
              <a:t>销售与技术服务部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59" y="3703320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>
                <a:cs typeface="Microsoft YaHei"/>
                <a:ea typeface="Microsoft YaHei"/>
                <a:solidFill>
                  <a:srgbClr val="C4A35A"/>
                </a:solidFill>
                <a:latin typeface="Microsoft YaHei"/>
              </a:rPr>
              <a:t>客户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59" y="3977639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cs typeface="Microsoft YaHei"/>
                <a:ea typeface="Microsoft YaHei"/>
                <a:solidFill>
                  <a:srgbClr val="FFFFFF"/>
                </a:solidFill>
                <a:latin typeface="Microsoft YaHei"/>
              </a:rPr>
              <a:t>华勤 · 手机 ODM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98280" y="3703320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>
                <a:cs typeface="Microsoft YaHei"/>
                <a:ea typeface="Microsoft YaHei"/>
                <a:solidFill>
                  <a:srgbClr val="C4A35A"/>
                </a:solidFill>
                <a:latin typeface="Microsoft YaHei"/>
              </a:rPr>
              <a:t>日期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98280" y="3977639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cs typeface="Microsoft YaHei"/>
                <a:ea typeface="Microsoft YaHei"/>
                <a:solidFill>
                  <a:srgbClr val="FFFFFF"/>
                </a:solidFill>
                <a:latin typeface="Microsoft YaHei"/>
              </a:rPr>
              <a:t>2026 年 8 月 24 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709160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cs typeface="Microsoft YaHei"/>
                <a:ea typeface="Microsoft YaHei"/>
                <a:solidFill>
                  <a:srgbClr val="C5D0DC"/>
                </a:solidFill>
                <a:latin typeface="Microsoft YaHei"/>
              </a:rPr>
              <a:t>本期结论：试用期完成华勤账号的决策链、窗口、漏斗和销售×技术服务闭环。</a:t>
            </a:r>
          </a:p>
          <a:p>
            <a:pPr algn="l">
              <a:spcAft>
                <a:spcPts val="400"/>
              </a:spcAft>
            </a:pPr>
            <a:r>
              <a:rPr sz="1400" b="0">
                <a:cs typeface="Microsoft YaHei"/>
                <a:ea typeface="Microsoft YaHei"/>
                <a:solidFill>
                  <a:srgbClr val="C5D0DC"/>
                </a:solidFill>
                <a:latin typeface="Microsoft YaHei"/>
              </a:rPr>
              <a:t>转正后按周报机制接受检查，用验证结论和定点路径兑现经营结果。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4980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"/>
            <a:ext cx="9326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cs typeface="Microsoft YaHei"/>
                <a:ea typeface="Microsoft YaHei"/>
                <a:solidFill>
                  <a:srgbClr val="C5D0DC"/>
                </a:solidFill>
                <a:latin typeface="Microsoft YaHei"/>
              </a:rPr>
              <a:t>销售与技术服务部  |  市场营销例会  |  周报框架 260824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47472"/>
            <a:ext cx="9509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cs typeface="Microsoft YaHei"/>
                <a:ea typeface="Microsoft YaHei"/>
                <a:solidFill>
                  <a:srgbClr val="FFFFFF"/>
                </a:solidFill>
                <a:latin typeface="Microsoft YaHei"/>
              </a:rPr>
              <a:t>汇报目录（沿用周报模块）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201168"/>
            <a:ext cx="21945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cs typeface="Microsoft YaHei"/>
                <a:ea typeface="Microsoft YaHei"/>
                <a:solidFill>
                  <a:srgbClr val="C5D0DC"/>
                </a:solidFill>
                <a:latin typeface="Microsoft YaHei"/>
              </a:rPr>
              <a:t>2 / 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11338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cs typeface="Microsoft YaHei"/>
                <a:ea typeface="Microsoft YaHei"/>
                <a:solidFill>
                  <a:srgbClr val="5A6A7A"/>
                </a:solidFill>
                <a:latin typeface="Microsoft YaHei"/>
              </a:rPr>
              <a:t>转正答辩专题  ·  华勤手机 CIS  ·  内部资料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932688"/>
            <a:ext cx="11338560" cy="347472"/>
          </a:xfrm>
          <a:prstGeom prst="rect">
            <a:avLst/>
          </a:prstGeom>
          <a:solidFill>
            <a:srgbClr val="E6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969264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>
                <a:cs typeface="Microsoft YaHei"/>
                <a:ea typeface="Microsoft YaHei"/>
                <a:solidFill>
                  <a:srgbClr val="2E5A88"/>
                </a:solidFill>
                <a:latin typeface="Microsoft YaHei"/>
              </a:rPr>
              <a:t>本期结论  先工作进展，再自我评价，最后下阶段计划与需协调。约 15 分钟。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1444752"/>
            <a:ext cx="1133856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810512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2600" b="1">
                <a:cs typeface="Microsoft YaHei"/>
                <a:ea typeface="Microsoft YaHei"/>
                <a:solidFill>
                  <a:srgbClr val="C4A35A"/>
                </a:solidFill>
                <a:latin typeface="Microsoft YaHe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1700784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试用期工作总结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217627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cs typeface="Microsoft YaHei"/>
                <a:ea typeface="Microsoft YaHei"/>
                <a:solidFill>
                  <a:srgbClr val="5A6A7A"/>
                </a:solidFill>
                <a:latin typeface="Microsoft YaHei"/>
              </a:rPr>
              <a:t>销售工作 · 项目进度跟踪 · 技术服务 · 问题与风险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999232"/>
            <a:ext cx="1133856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364992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2600" b="1">
                <a:cs typeface="Microsoft YaHei"/>
                <a:ea typeface="Microsoft YaHei"/>
                <a:solidFill>
                  <a:srgbClr val="C4A35A"/>
                </a:solidFill>
                <a:latin typeface="Microsoft YaHe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3255264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试用期自我评价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20240" y="37307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cs typeface="Microsoft YaHei"/>
                <a:ea typeface="Microsoft YaHei"/>
                <a:solidFill>
                  <a:srgbClr val="5A6A7A"/>
                </a:solidFill>
                <a:latin typeface="Microsoft YaHei"/>
              </a:rPr>
              <a:t>六维能力 · 胜任判断 · 短板不回避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4553712"/>
            <a:ext cx="1133856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919472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2600" b="1">
                <a:cs typeface="Microsoft YaHei"/>
                <a:ea typeface="Microsoft YaHei"/>
                <a:solidFill>
                  <a:srgbClr val="C4A35A"/>
                </a:solidFill>
                <a:latin typeface="Microsoft YaHe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20240" y="4809744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未来规划与展望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20240" y="528523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cs typeface="Microsoft YaHei"/>
                <a:ea typeface="Microsoft YaHei"/>
                <a:solidFill>
                  <a:srgbClr val="5A6A7A"/>
                </a:solidFill>
                <a:latin typeface="Microsoft YaHei"/>
              </a:rPr>
              <a:t>90 天节点 · 12 个月样板账号 · 需协调事项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4980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"/>
            <a:ext cx="9326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cs typeface="Microsoft YaHei"/>
                <a:ea typeface="Microsoft YaHei"/>
                <a:solidFill>
                  <a:srgbClr val="C5D0DC"/>
                </a:solidFill>
                <a:latin typeface="Microsoft YaHei"/>
              </a:rPr>
              <a:t>销售与技术服务部  |  市场营销例会  |  周报框架 260824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47472"/>
            <a:ext cx="9509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cs typeface="Microsoft YaHei"/>
                <a:ea typeface="Microsoft YaHei"/>
                <a:solidFill>
                  <a:srgbClr val="FFFFFF"/>
                </a:solidFill>
                <a:latin typeface="Microsoft YaHei"/>
              </a:rPr>
              <a:t>本期核心结论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201168"/>
            <a:ext cx="21945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cs typeface="Microsoft YaHei"/>
                <a:ea typeface="Microsoft YaHei"/>
                <a:solidFill>
                  <a:srgbClr val="C5D0DC"/>
                </a:solidFill>
                <a:latin typeface="Microsoft YaHei"/>
              </a:rPr>
              <a:t>3 / 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11338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cs typeface="Microsoft YaHei"/>
                <a:ea typeface="Microsoft YaHei"/>
                <a:solidFill>
                  <a:srgbClr val="5A6A7A"/>
                </a:solidFill>
                <a:latin typeface="Microsoft YaHei"/>
              </a:rPr>
              <a:t>转正答辩专题  ·  华勤手机 CIS  ·  内部资料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932688"/>
            <a:ext cx="11338560" cy="347472"/>
          </a:xfrm>
          <a:prstGeom prst="rect">
            <a:avLst/>
          </a:prstGeom>
          <a:solidFill>
            <a:srgbClr val="E6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969264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>
                <a:cs typeface="Microsoft YaHei"/>
                <a:ea typeface="Microsoft YaHei"/>
                <a:solidFill>
                  <a:srgbClr val="2E5A88"/>
                </a:solidFill>
                <a:latin typeface="Microsoft YaHei"/>
              </a:rPr>
              <a:t>本期结论  华勤是 ODM：品牌管 AVL，华勤管落地，模组厂做验证。销售要同时看见这三层。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11480" y="1417320"/>
          <a:ext cx="11338560" cy="4709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7315200"/>
                <a:gridCol w="1645920"/>
              </a:tblGrid>
              <a:tr h="78486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>
                          <a:cs typeface="Microsoft YaHei"/>
                          <a:ea typeface="Microsoft YaHei"/>
                          <a:solidFill>
                            <a:srgbClr val="FFFFFF"/>
                          </a:solidFill>
                          <a:latin typeface="Microsoft YaHei"/>
                        </a:rPr>
                        <a:t>周报栏目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>
                          <a:cs typeface="Microsoft YaHei"/>
                          <a:ea typeface="Microsoft YaHei"/>
                          <a:solidFill>
                            <a:srgbClr val="FFFFFF"/>
                          </a:solidFill>
                          <a:latin typeface="Microsoft YaHei"/>
                        </a:rPr>
                        <a:t>试用期结果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>
                          <a:cs typeface="Microsoft YaHei"/>
                          <a:ea typeface="Microsoft YaHei"/>
                          <a:solidFill>
                            <a:srgbClr val="FFFFFF"/>
                          </a:solidFill>
                          <a:latin typeface="Microsoft YaHei"/>
                        </a:rPr>
                        <a:t>状态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</a:tr>
              <a:tr h="78486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销售工作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0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决策链、采购/项目/硬件窗口、竞品卡位表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>
                          <a:cs typeface="Microsoft YaHei"/>
                          <a:ea typeface="Microsoft YaHei"/>
                          <a:solidFill>
                            <a:srgbClr val="2F6B4F"/>
                          </a:solidFill>
                          <a:latin typeface="Microsoft YaHei"/>
                        </a:rPr>
                        <a:t>已完成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8486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项目进度跟踪</a:t>
                      </a:r>
                    </a:p>
                  </a:txBody>
                  <a:tcPr anchor="ctr"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0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2M 第二源进入送样/验证；漏斗 A/B/C 进周报</a:t>
                      </a:r>
                    </a:p>
                  </a:txBody>
                  <a:tcPr anchor="ctr"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>
                          <a:cs typeface="Microsoft YaHei"/>
                          <a:ea typeface="Microsoft YaHei"/>
                          <a:solidFill>
                            <a:srgbClr val="8A6A1A"/>
                          </a:solidFill>
                          <a:latin typeface="Microsoft YaHei"/>
                        </a:rPr>
                        <a:t>进行中</a:t>
                      </a:r>
                    </a:p>
                  </a:txBody>
                  <a:tcPr anchor="ctr">
                    <a:solidFill>
                      <a:srgbClr val="F3F6F9"/>
                    </a:solidFill>
                  </a:tcPr>
                </a:tc>
              </a:tr>
              <a:tr h="78486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技术服务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0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陪访、48h 闭环、导入风险前置（封装/OTP/CRA）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>
                          <a:cs typeface="Microsoft YaHei"/>
                          <a:ea typeface="Microsoft YaHei"/>
                          <a:solidFill>
                            <a:srgbClr val="2F6B4F"/>
                          </a:solidFill>
                          <a:latin typeface="Microsoft YaHei"/>
                        </a:rPr>
                        <a:t>已建立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8486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问题与风险</a:t>
                      </a:r>
                    </a:p>
                  </a:txBody>
                  <a:tcPr anchor="ctr"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0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品牌 AVL 未打开；尚无定点；商务口径未锁</a:t>
                      </a:r>
                    </a:p>
                  </a:txBody>
                  <a:tcPr anchor="ctr"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红灯在册</a:t>
                      </a:r>
                    </a:p>
                  </a:txBody>
                  <a:tcPr anchor="ctr">
                    <a:solidFill>
                      <a:srgbClr val="F3F6F9"/>
                    </a:solidFill>
                  </a:tcPr>
                </a:tc>
              </a:tr>
              <a:tr h="78486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评价口径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0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窗口 / 漏斗 / 闭环，不把未发生的收入当试用期 KPI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对齐中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4980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"/>
            <a:ext cx="9326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cs typeface="Microsoft YaHei"/>
                <a:ea typeface="Microsoft YaHei"/>
                <a:solidFill>
                  <a:srgbClr val="C5D0DC"/>
                </a:solidFill>
                <a:latin typeface="Microsoft YaHei"/>
              </a:rPr>
              <a:t>销售与技术服务部  |  市场营销例会  |  周报框架 260824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47472"/>
            <a:ext cx="9509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cs typeface="Microsoft YaHei"/>
                <a:ea typeface="Microsoft YaHei"/>
                <a:solidFill>
                  <a:srgbClr val="FFFFFF"/>
                </a:solidFill>
                <a:latin typeface="Microsoft YaHei"/>
              </a:rPr>
              <a:t>一、试用期工作总结  |  销售工作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201168"/>
            <a:ext cx="21945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cs typeface="Microsoft YaHei"/>
                <a:ea typeface="Microsoft YaHei"/>
                <a:solidFill>
                  <a:srgbClr val="C5D0DC"/>
                </a:solidFill>
                <a:latin typeface="Microsoft YaHei"/>
              </a:rPr>
              <a:t>4 / 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11338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cs typeface="Microsoft YaHei"/>
                <a:ea typeface="Microsoft YaHei"/>
                <a:solidFill>
                  <a:srgbClr val="5A6A7A"/>
                </a:solidFill>
                <a:latin typeface="Microsoft YaHei"/>
              </a:rPr>
              <a:t>转正答辩专题  ·  华勤手机 CIS  ·  内部资料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932688"/>
            <a:ext cx="11338560" cy="347472"/>
          </a:xfrm>
          <a:prstGeom prst="rect">
            <a:avLst/>
          </a:prstGeom>
          <a:solidFill>
            <a:srgbClr val="E6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969264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>
                <a:cs typeface="Microsoft YaHei"/>
                <a:ea typeface="Microsoft YaHei"/>
                <a:solidFill>
                  <a:srgbClr val="2E5A88"/>
                </a:solidFill>
                <a:latin typeface="Microsoft YaHei"/>
              </a:rPr>
              <a:t>本期结论  先结构、后项目。把华勤从客户名称做成可经营账号。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11480" y="1417320"/>
          <a:ext cx="11338560" cy="4709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023360"/>
                <a:gridCol w="5303520"/>
              </a:tblGrid>
              <a:tr h="78486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>
                          <a:cs typeface="Microsoft YaHei"/>
                          <a:ea typeface="Microsoft YaHei"/>
                          <a:solidFill>
                            <a:srgbClr val="FFFFFF"/>
                          </a:solidFill>
                          <a:latin typeface="Microsoft YaHei"/>
                        </a:rPr>
                        <a:t>角色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>
                          <a:cs typeface="Microsoft YaHei"/>
                          <a:ea typeface="Microsoft YaHei"/>
                          <a:solidFill>
                            <a:srgbClr val="FFFFFF"/>
                          </a:solidFill>
                          <a:latin typeface="Microsoft YaHei"/>
                        </a:rPr>
                        <a:t>关心什么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>
                          <a:cs typeface="Microsoft YaHei"/>
                          <a:ea typeface="Microsoft YaHei"/>
                          <a:solidFill>
                            <a:srgbClr val="FFFFFF"/>
                          </a:solidFill>
                          <a:latin typeface="Microsoft YaHei"/>
                        </a:rPr>
                        <a:t>试用期动作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</a:tr>
              <a:tr h="78486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项目经理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0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EVT/DVT 节点与风险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0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对齐机型节奏，未验证料不进关键路径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8486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摄像头硬件</a:t>
                      </a:r>
                    </a:p>
                  </a:txBody>
                  <a:tcPr anchor="ctr"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0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规格、封装、第二源可行性</a:t>
                      </a:r>
                    </a:p>
                  </a:txBody>
                  <a:tcPr anchor="ctr"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0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输出对照表，明确改板成本</a:t>
                      </a:r>
                    </a:p>
                  </a:txBody>
                  <a:tcPr anchor="ctr">
                    <a:solidFill>
                      <a:srgbClr val="F3F6F9"/>
                    </a:solidFill>
                  </a:tcPr>
                </a:tc>
              </a:tr>
              <a:tr h="78486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影像 / 调试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0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IQ 与验证结论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0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拉 FAE 进现场，结论进纪要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8486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采购</a:t>
                      </a:r>
                    </a:p>
                  </a:txBody>
                  <a:tcPr anchor="ctr"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0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价格、交期、供给</a:t>
                      </a:r>
                    </a:p>
                  </a:txBody>
                  <a:tcPr anchor="ctr"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0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建立窗口，同步公司报价与供给原则</a:t>
                      </a:r>
                    </a:p>
                  </a:txBody>
                  <a:tcPr anchor="ctr">
                    <a:solidFill>
                      <a:srgbClr val="F3F6F9"/>
                    </a:solidFill>
                  </a:tcPr>
                </a:tc>
              </a:tr>
              <a:tr h="78486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质量 / 计划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0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可靠性、上量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0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提前暴露封装/回流/OTP 风险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4980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"/>
            <a:ext cx="9326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cs typeface="Microsoft YaHei"/>
                <a:ea typeface="Microsoft YaHei"/>
                <a:solidFill>
                  <a:srgbClr val="C5D0DC"/>
                </a:solidFill>
                <a:latin typeface="Microsoft YaHei"/>
              </a:rPr>
              <a:t>销售与技术服务部  |  市场营销例会  |  周报框架 260824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47472"/>
            <a:ext cx="9509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cs typeface="Microsoft YaHei"/>
                <a:ea typeface="Microsoft YaHei"/>
                <a:solidFill>
                  <a:srgbClr val="FFFFFF"/>
                </a:solidFill>
                <a:latin typeface="Microsoft YaHei"/>
              </a:rPr>
              <a:t>一、试用期工作总结  |  项目进度跟踪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201168"/>
            <a:ext cx="21945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cs typeface="Microsoft YaHei"/>
                <a:ea typeface="Microsoft YaHei"/>
                <a:solidFill>
                  <a:srgbClr val="C5D0DC"/>
                </a:solidFill>
                <a:latin typeface="Microsoft YaHei"/>
              </a:rPr>
              <a:t>5 / 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11338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cs typeface="Microsoft YaHei"/>
                <a:ea typeface="Microsoft YaHei"/>
                <a:solidFill>
                  <a:srgbClr val="5A6A7A"/>
                </a:solidFill>
                <a:latin typeface="Microsoft YaHei"/>
              </a:rPr>
              <a:t>转正答辩专题  ·  华勤手机 CIS  ·  内部资料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932688"/>
            <a:ext cx="11338560" cy="347472"/>
          </a:xfrm>
          <a:prstGeom prst="rect">
            <a:avLst/>
          </a:prstGeom>
          <a:solidFill>
            <a:srgbClr val="E6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969264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>
                <a:cs typeface="Microsoft YaHei"/>
                <a:ea typeface="Microsoft YaHei"/>
                <a:solidFill>
                  <a:srgbClr val="2E5A88"/>
                </a:solidFill>
                <a:latin typeface="Microsoft YaHei"/>
              </a:rPr>
              <a:t>本期结论  红黄绿按周报更新。机型名现场按保密口径替换。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389888"/>
          <a:ext cx="11521440" cy="39776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2011680"/>
                <a:gridCol w="1417320"/>
                <a:gridCol w="640080"/>
                <a:gridCol w="3429000"/>
                <a:gridCol w="2057400"/>
              </a:tblGrid>
              <a:tr h="795527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>
                          <a:cs typeface="Microsoft YaHei"/>
                          <a:ea typeface="Microsoft YaHei"/>
                          <a:solidFill>
                            <a:srgbClr val="FFFFFF"/>
                          </a:solidFill>
                          <a:latin typeface="Microsoft YaHei"/>
                        </a:rPr>
                        <a:t>项目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>
                          <a:cs typeface="Microsoft YaHei"/>
                          <a:ea typeface="Microsoft YaHei"/>
                          <a:solidFill>
                            <a:srgbClr val="FFFFFF"/>
                          </a:solidFill>
                          <a:latin typeface="Microsoft YaHei"/>
                        </a:rPr>
                        <a:t>规格卡位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>
                          <a:cs typeface="Microsoft YaHei"/>
                          <a:ea typeface="Microsoft YaHei"/>
                          <a:solidFill>
                            <a:srgbClr val="FFFFFF"/>
                          </a:solidFill>
                          <a:latin typeface="Microsoft YaHei"/>
                        </a:rPr>
                        <a:t>阶段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>
                          <a:cs typeface="Microsoft YaHei"/>
                          <a:ea typeface="Microsoft YaHei"/>
                          <a:solidFill>
                            <a:srgbClr val="FFFFFF"/>
                          </a:solidFill>
                          <a:latin typeface="Microsoft YaHei"/>
                        </a:rPr>
                        <a:t>灯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>
                          <a:cs typeface="Microsoft YaHei"/>
                          <a:ea typeface="Microsoft YaHei"/>
                          <a:solidFill>
                            <a:srgbClr val="FFFFFF"/>
                          </a:solidFill>
                          <a:latin typeface="Microsoft YaHei"/>
                        </a:rPr>
                        <a:t>本周期进展 / 风险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>
                          <a:cs typeface="Microsoft YaHei"/>
                          <a:ea typeface="Microsoft YaHei"/>
                          <a:solidFill>
                            <a:srgbClr val="FFFFFF"/>
                          </a:solidFill>
                          <a:latin typeface="Microsoft YaHei"/>
                        </a:rPr>
                        <a:t>下一步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</a:tr>
              <a:tr h="795527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前置 2M 第二源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0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对标成熟 1/5" 2M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0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送样/验证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>
                          <a:cs typeface="Microsoft YaHei"/>
                          <a:ea typeface="Microsoft YaHei"/>
                          <a:solidFill>
                            <a:srgbClr val="8A6A1A"/>
                          </a:solidFill>
                          <a:latin typeface="Microsoft YaHei"/>
                        </a:rPr>
                        <a:t>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0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资料包与陪访已跑通，结论跟进中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0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出书面验证结论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95527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功能摄/微距档</a:t>
                      </a:r>
                    </a:p>
                  </a:txBody>
                  <a:tcPr anchor="ctr"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0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2M，看开案窗口</a:t>
                      </a:r>
                    </a:p>
                  </a:txBody>
                  <a:tcPr anchor="ctr"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0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匹配/送样</a:t>
                      </a:r>
                    </a:p>
                  </a:txBody>
                  <a:tcPr anchor="ctr"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>
                          <a:cs typeface="Microsoft YaHei"/>
                          <a:ea typeface="Microsoft YaHei"/>
                          <a:solidFill>
                            <a:srgbClr val="8A6A1A"/>
                          </a:solidFill>
                          <a:latin typeface="Microsoft YaHei"/>
                        </a:rPr>
                        <a:t>黄</a:t>
                      </a:r>
                    </a:p>
                  </a:txBody>
                  <a:tcPr anchor="ctr"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0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规格可进短名单，节奏待项目组确认</a:t>
                      </a:r>
                    </a:p>
                  </a:txBody>
                  <a:tcPr anchor="ctr"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0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锁定开案节点</a:t>
                      </a:r>
                    </a:p>
                  </a:txBody>
                  <a:tcPr anchor="ctr">
                    <a:solidFill>
                      <a:srgbClr val="F3F6F9"/>
                    </a:solidFill>
                  </a:tcPr>
                </a:tc>
              </a:tr>
              <a:tr h="795527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新开案选型池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0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在研机型摄像头地图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0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情报/匹配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>
                          <a:cs typeface="Microsoft YaHei"/>
                          <a:ea typeface="Microsoft YaHei"/>
                          <a:solidFill>
                            <a:srgbClr val="2F6B4F"/>
                          </a:solidFill>
                          <a:latin typeface="Microsoft YaHei"/>
                        </a:rPr>
                        <a:t>绿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0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格科/思特威/OV 占位已摸清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0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滚动更新漏斗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95531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品牌 AVL 路径</a:t>
                      </a:r>
                    </a:p>
                  </a:txBody>
                  <a:tcPr anchor="ctr"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0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需进入品牌短名单</a:t>
                      </a:r>
                    </a:p>
                  </a:txBody>
                  <a:tcPr anchor="ctr"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0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未启动</a:t>
                      </a:r>
                    </a:p>
                  </a:txBody>
                  <a:tcPr anchor="ctr"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>
                          <a:cs typeface="Microsoft YaHei"/>
                          <a:ea typeface="Microsoft YaHei"/>
                          <a:solidFill>
                            <a:srgbClr val="8B4A3C"/>
                          </a:solidFill>
                          <a:latin typeface="Microsoft YaHei"/>
                        </a:rPr>
                        <a:t>红</a:t>
                      </a:r>
                    </a:p>
                  </a:txBody>
                  <a:tcPr anchor="ctr"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0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约束已识别，窗口未打开</a:t>
                      </a:r>
                    </a:p>
                  </a:txBody>
                  <a:tcPr anchor="ctr"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0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要品牌或指定模组线索</a:t>
                      </a:r>
                    </a:p>
                  </a:txBody>
                  <a:tcPr anchor="ctr"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11480" y="5532120"/>
            <a:ext cx="11338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cs typeface="Microsoft YaHei"/>
                <a:ea typeface="Microsoft YaHei"/>
                <a:solidFill>
                  <a:srgbClr val="5A6A7A"/>
                </a:solidFill>
                <a:latin typeface="Microsoft YaHei"/>
              </a:rPr>
              <a:t>主攻：供给弹性 + 导入服务 + 风险对冲，做可落地的第二源，不硬刚纸面参数。</a:t>
            </a:r>
          </a:p>
          <a:p>
            <a:pPr algn="l">
              <a:spcAft>
                <a:spcPts val="300"/>
              </a:spcAft>
            </a:pPr>
            <a:r>
              <a:rPr sz="1200" b="0">
                <a:cs typeface="Microsoft YaHei"/>
                <a:ea typeface="Microsoft YaHei"/>
                <a:solidFill>
                  <a:srgbClr val="5A6A7A"/>
                </a:solidFill>
                <a:latin typeface="Microsoft YaHei"/>
              </a:rPr>
              <a:t>绿灯也要写下一节点。黄灯写阻塞点。红灯当周升级。不把送样次数写成业绩。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4980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"/>
            <a:ext cx="9326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cs typeface="Microsoft YaHei"/>
                <a:ea typeface="Microsoft YaHei"/>
                <a:solidFill>
                  <a:srgbClr val="C5D0DC"/>
                </a:solidFill>
                <a:latin typeface="Microsoft YaHei"/>
              </a:rPr>
              <a:t>销售与技术服务部  |  市场营销例会  |  周报框架 260824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47472"/>
            <a:ext cx="9509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cs typeface="Microsoft YaHei"/>
                <a:ea typeface="Microsoft YaHei"/>
                <a:solidFill>
                  <a:srgbClr val="FFFFFF"/>
                </a:solidFill>
                <a:latin typeface="Microsoft YaHei"/>
              </a:rPr>
              <a:t>一、试用期工作总结  |  技术服务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201168"/>
            <a:ext cx="21945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cs typeface="Microsoft YaHei"/>
                <a:ea typeface="Microsoft YaHei"/>
                <a:solidFill>
                  <a:srgbClr val="C5D0DC"/>
                </a:solidFill>
                <a:latin typeface="Microsoft YaHei"/>
              </a:rPr>
              <a:t>6 / 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11338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cs typeface="Microsoft YaHei"/>
                <a:ea typeface="Microsoft YaHei"/>
                <a:solidFill>
                  <a:srgbClr val="5A6A7A"/>
                </a:solidFill>
                <a:latin typeface="Microsoft YaHei"/>
              </a:rPr>
              <a:t>转正答辩专题  ·  华勤手机 CIS  ·  内部资料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932688"/>
            <a:ext cx="11338560" cy="347472"/>
          </a:xfrm>
          <a:prstGeom prst="rect">
            <a:avLst/>
          </a:prstGeom>
          <a:solidFill>
            <a:srgbClr val="E6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969264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>
                <a:cs typeface="Microsoft YaHei"/>
                <a:ea typeface="Microsoft YaHei"/>
                <a:solidFill>
                  <a:srgbClr val="2E5A88"/>
                </a:solidFill>
                <a:latin typeface="Microsoft YaHei"/>
              </a:rPr>
              <a:t>本期结论  销售对节点负责，FAE 对技术结论负责。部门周报里销售与技术服务本来就是一块。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1417320"/>
            <a:ext cx="5623560" cy="4709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6002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>
                <a:cs typeface="Microsoft YaHei"/>
                <a:ea typeface="Microsoft YaHei"/>
                <a:solidFill>
                  <a:srgbClr val="2E5A88"/>
                </a:solidFill>
                <a:latin typeface="Microsoft YaHei"/>
              </a:rPr>
              <a:t>工作约定（可进周报检查）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14884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·  拜访前出具规格问题清单，不空跑</a:t>
            </a:r>
          </a:p>
          <a:p>
            <a:pPr algn="l">
              <a:spcAft>
                <a:spcPts val="1000"/>
              </a:spcAft>
            </a:pPr>
            <a:r>
              <a:rPr sz="1500" b="0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·  现场销售控议程，FAE 答技术</a:t>
            </a:r>
          </a:p>
          <a:p>
            <a:pPr algn="l">
              <a:spcAft>
                <a:spcPts val="1000"/>
              </a:spcAft>
            </a:pPr>
            <a:r>
              <a:rPr sz="1500" b="0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·  当天纪要：问题 / 责任人 / 截止日</a:t>
            </a:r>
          </a:p>
          <a:p>
            <a:pPr algn="l">
              <a:spcAft>
                <a:spcPts val="1000"/>
              </a:spcAft>
            </a:pPr>
            <a:r>
              <a:rPr sz="1500" b="0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·  技术问题 48 小时书面回复</a:t>
            </a:r>
          </a:p>
          <a:p>
            <a:pPr algn="l">
              <a:spcAft>
                <a:spcPts val="1000"/>
              </a:spcAft>
            </a:pPr>
            <a:r>
              <a:rPr sz="1500" b="0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·  卡住节点当周升级内部会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417320"/>
            <a:ext cx="5577840" cy="4709160"/>
          </a:xfrm>
          <a:prstGeom prst="roundRect">
            <a:avLst>
              <a:gd name="adj" fmla="val 4000"/>
            </a:avLst>
          </a:prstGeom>
          <a:solidFill>
            <a:srgbClr val="E6EEF6"/>
          </a:solidFill>
          <a:ln w="12700">
            <a:solidFill>
              <a:srgbClr val="C5CD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16002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>
                <a:cs typeface="Microsoft YaHei"/>
                <a:ea typeface="Microsoft YaHei"/>
                <a:solidFill>
                  <a:srgbClr val="2E5A88"/>
                </a:solidFill>
                <a:latin typeface="Microsoft YaHei"/>
              </a:rPr>
              <a:t>对内对外同一套事实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14884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·  客户要的是：这台机赶不赶得上</a:t>
            </a:r>
          </a:p>
          <a:p>
            <a:pPr algn="l">
              <a:spcAft>
                <a:spcPts val="1000"/>
              </a:spcAft>
            </a:pPr>
            <a:r>
              <a:rPr sz="1500" b="0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·  内部要的是：问题关不关得掉</a:t>
            </a:r>
          </a:p>
          <a:p>
            <a:pPr algn="l">
              <a:spcAft>
                <a:spcPts val="1000"/>
              </a:spcAft>
            </a:pPr>
            <a:r>
              <a:rPr sz="1500" b="0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·  风险前置：封装、CRA、OTP、上电时序</a:t>
            </a:r>
          </a:p>
          <a:p>
            <a:pPr algn="l">
              <a:spcAft>
                <a:spcPts val="1000"/>
              </a:spcAft>
            </a:pPr>
            <a:r>
              <a:rPr sz="1500" b="0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·  竞品动态进周报，给产品/计划决策</a:t>
            </a:r>
          </a:p>
          <a:p>
            <a:pPr algn="l">
              <a:spcAft>
                <a:spcPts val="1000"/>
              </a:spcAft>
            </a:pPr>
            <a:r>
              <a:rPr sz="1500" b="0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·  导入包：规格对照、setting、FAQ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4980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"/>
            <a:ext cx="9326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cs typeface="Microsoft YaHei"/>
                <a:ea typeface="Microsoft YaHei"/>
                <a:solidFill>
                  <a:srgbClr val="C5D0DC"/>
                </a:solidFill>
                <a:latin typeface="Microsoft YaHei"/>
              </a:rPr>
              <a:t>销售与技术服务部  |  市场营销例会  |  周报框架 260824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47472"/>
            <a:ext cx="9509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cs typeface="Microsoft YaHei"/>
                <a:ea typeface="Microsoft YaHei"/>
                <a:solidFill>
                  <a:srgbClr val="FFFFFF"/>
                </a:solidFill>
                <a:latin typeface="Microsoft YaHei"/>
              </a:rPr>
              <a:t>一、试用期工作总结  |  问题与风险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201168"/>
            <a:ext cx="21945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cs typeface="Microsoft YaHei"/>
                <a:ea typeface="Microsoft YaHei"/>
                <a:solidFill>
                  <a:srgbClr val="C5D0DC"/>
                </a:solidFill>
                <a:latin typeface="Microsoft YaHei"/>
              </a:rPr>
              <a:t>7 / 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11338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cs typeface="Microsoft YaHei"/>
                <a:ea typeface="Microsoft YaHei"/>
                <a:solidFill>
                  <a:srgbClr val="5A6A7A"/>
                </a:solidFill>
                <a:latin typeface="Microsoft YaHei"/>
              </a:rPr>
              <a:t>转正答辩专题  ·  华勤手机 CIS  ·  内部资料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932688"/>
            <a:ext cx="11338560" cy="347472"/>
          </a:xfrm>
          <a:prstGeom prst="rect">
            <a:avLst/>
          </a:prstGeom>
          <a:solidFill>
            <a:srgbClr val="E6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969264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>
                <a:cs typeface="Microsoft YaHei"/>
                <a:ea typeface="Microsoft YaHei"/>
                <a:solidFill>
                  <a:srgbClr val="2E5A88"/>
                </a:solidFill>
                <a:latin typeface="Microsoft YaHei"/>
              </a:rPr>
              <a:t>本期结论  红灯进周报。转正答辩不藏未完成项。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11480" y="1371600"/>
          <a:ext cx="1133856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1463040"/>
                <a:gridCol w="5303520"/>
              </a:tblGrid>
              <a:tr h="52832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>
                          <a:cs typeface="Microsoft YaHei"/>
                          <a:ea typeface="Microsoft YaHei"/>
                          <a:solidFill>
                            <a:srgbClr val="FFFFFF"/>
                          </a:solidFill>
                          <a:latin typeface="Microsoft YaHei"/>
                        </a:rPr>
                        <a:t>工作项 / 风险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>
                          <a:cs typeface="Microsoft YaHei"/>
                          <a:ea typeface="Microsoft YaHei"/>
                          <a:solidFill>
                            <a:srgbClr val="FFFFFF"/>
                          </a:solidFill>
                          <a:latin typeface="Microsoft YaHei"/>
                        </a:rPr>
                        <a:t>状态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>
                          <a:cs typeface="Microsoft YaHei"/>
                          <a:ea typeface="Microsoft YaHei"/>
                          <a:solidFill>
                            <a:srgbClr val="FFFFFF"/>
                          </a:solidFill>
                          <a:latin typeface="Microsoft YaHei"/>
                        </a:rPr>
                        <a:t>说明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决策链地图（项目/硬件/影像/采购/质量）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>
                          <a:cs typeface="Microsoft YaHei"/>
                          <a:ea typeface="Microsoft YaHei"/>
                          <a:solidFill>
                            <a:srgbClr val="2F6B4F"/>
                          </a:solidFill>
                          <a:latin typeface="Microsoft YaHei"/>
                        </a:rPr>
                        <a:t>已完成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0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避免单点窗口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主对接 + 备份窗口</a:t>
                      </a:r>
                    </a:p>
                  </a:txBody>
                  <a:tcPr anchor="ctr"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>
                          <a:cs typeface="Microsoft YaHei"/>
                          <a:ea typeface="Microsoft YaHei"/>
                          <a:solidFill>
                            <a:srgbClr val="2F6B4F"/>
                          </a:solidFill>
                          <a:latin typeface="Microsoft YaHei"/>
                        </a:rPr>
                        <a:t>已建立</a:t>
                      </a:r>
                    </a:p>
                  </a:txBody>
                  <a:tcPr anchor="ctr"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0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采购与项目双线，周/双周节奏</a:t>
                      </a:r>
                    </a:p>
                  </a:txBody>
                  <a:tcPr anchor="ctr">
                    <a:solidFill>
                      <a:srgbClr val="F3F6F9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规格与竞品卡位表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已输出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0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看清成熟料占位和开案窗口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送样与 FAE 协同</a:t>
                      </a:r>
                    </a:p>
                  </a:txBody>
                  <a:tcPr anchor="ctr"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>
                          <a:cs typeface="Microsoft YaHei"/>
                          <a:ea typeface="Microsoft YaHei"/>
                          <a:solidFill>
                            <a:srgbClr val="8A6A1A"/>
                          </a:solidFill>
                          <a:latin typeface="Microsoft YaHei"/>
                        </a:rPr>
                        <a:t>进行中</a:t>
                      </a:r>
                    </a:p>
                  </a:txBody>
                  <a:tcPr anchor="ctr"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0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机制已跑通，验证结论跟进</a:t>
                      </a:r>
                    </a:p>
                  </a:txBody>
                  <a:tcPr anchor="ctr">
                    <a:solidFill>
                      <a:srgbClr val="F3F6F9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项目漏斗纳入周报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>
                          <a:cs typeface="Microsoft YaHei"/>
                          <a:ea typeface="Microsoft YaHei"/>
                          <a:solidFill>
                            <a:srgbClr val="2F6B4F"/>
                          </a:solidFill>
                          <a:latin typeface="Microsoft YaHei"/>
                        </a:rPr>
                        <a:t>已建立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0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红黄绿对内对齐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品牌 AVL 窗口</a:t>
                      </a:r>
                    </a:p>
                  </a:txBody>
                  <a:tcPr anchor="ctr"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>
                          <a:cs typeface="Microsoft YaHei"/>
                          <a:ea typeface="Microsoft YaHei"/>
                          <a:solidFill>
                            <a:srgbClr val="8B4A3C"/>
                          </a:solidFill>
                          <a:latin typeface="Microsoft YaHei"/>
                        </a:rPr>
                        <a:t>未打开</a:t>
                      </a:r>
                    </a:p>
                  </a:txBody>
                  <a:tcPr anchor="ctr"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0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90 天重点，不回避</a:t>
                      </a:r>
                    </a:p>
                  </a:txBody>
                  <a:tcPr anchor="ctr">
                    <a:solidFill>
                      <a:srgbClr val="F3F6F9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量产定点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>
                          <a:cs typeface="Microsoft YaHei"/>
                          <a:ea typeface="Microsoft YaHei"/>
                          <a:solidFill>
                            <a:srgbClr val="8B4A3C"/>
                          </a:solidFill>
                          <a:latin typeface="Microsoft YaHei"/>
                        </a:rPr>
                        <a:t>未完成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0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导入周期长于试用期，不提前报喜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华勤专用商务口径</a:t>
                      </a:r>
                    </a:p>
                  </a:txBody>
                  <a:tcPr anchor="ctr"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>
                          <a:cs typeface="Microsoft YaHei"/>
                          <a:ea typeface="Microsoft YaHei"/>
                          <a:solidFill>
                            <a:srgbClr val="8B4A3C"/>
                          </a:solidFill>
                          <a:latin typeface="Microsoft YaHei"/>
                        </a:rPr>
                        <a:t>未完成</a:t>
                      </a:r>
                    </a:p>
                  </a:txBody>
                  <a:tcPr anchor="ctr"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0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价格/交期/供给需与产品计划锁定</a:t>
                      </a:r>
                    </a:p>
                  </a:txBody>
                  <a:tcPr anchor="ctr"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4980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"/>
            <a:ext cx="9326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cs typeface="Microsoft YaHei"/>
                <a:ea typeface="Microsoft YaHei"/>
                <a:solidFill>
                  <a:srgbClr val="C5D0DC"/>
                </a:solidFill>
                <a:latin typeface="Microsoft YaHei"/>
              </a:rPr>
              <a:t>销售与技术服务部  |  市场营销例会  |  周报框架 260824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47472"/>
            <a:ext cx="9509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cs typeface="Microsoft YaHei"/>
                <a:ea typeface="Microsoft YaHei"/>
                <a:solidFill>
                  <a:srgbClr val="FFFFFF"/>
                </a:solidFill>
                <a:latin typeface="Microsoft YaHei"/>
              </a:rPr>
              <a:t>二、试用期自我评价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201168"/>
            <a:ext cx="21945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cs typeface="Microsoft YaHei"/>
                <a:ea typeface="Microsoft YaHei"/>
                <a:solidFill>
                  <a:srgbClr val="C5D0DC"/>
                </a:solidFill>
                <a:latin typeface="Microsoft YaHei"/>
              </a:rPr>
              <a:t>8 / 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11338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cs typeface="Microsoft YaHei"/>
                <a:ea typeface="Microsoft YaHei"/>
                <a:solidFill>
                  <a:srgbClr val="5A6A7A"/>
                </a:solidFill>
                <a:latin typeface="Microsoft YaHei"/>
              </a:rPr>
              <a:t>转正答辩专题  ·  华勤手机 CIS  ·  内部资料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932688"/>
            <a:ext cx="11338560" cy="347472"/>
          </a:xfrm>
          <a:prstGeom prst="rect">
            <a:avLst/>
          </a:prstGeom>
          <a:solidFill>
            <a:srgbClr val="E6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969264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>
                <a:cs typeface="Microsoft YaHei"/>
                <a:ea typeface="Microsoft YaHei"/>
                <a:solidFill>
                  <a:srgbClr val="2E5A88"/>
                </a:solidFill>
                <a:latin typeface="Microsoft YaHei"/>
              </a:rPr>
              <a:t>本期结论  给评委打分框架。强项可复用，短板写进下阶段计划。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1417320"/>
            <a:ext cx="370332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1618488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客户洞察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43200" y="1655064"/>
            <a:ext cx="1097280" cy="329184"/>
          </a:xfrm>
          <a:prstGeom prst="roundRect">
            <a:avLst>
              <a:gd name="adj" fmla="val 40000"/>
            </a:avLst>
          </a:prstGeom>
          <a:solidFill>
            <a:srgbClr val="E6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0" y="167335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00"/>
              </a:spcAft>
            </a:pPr>
            <a:r>
              <a:rPr sz="1200" b="1">
                <a:cs typeface="Microsoft YaHei"/>
                <a:ea typeface="Microsoft YaHei"/>
                <a:solidFill>
                  <a:srgbClr val="2E5A88"/>
                </a:solidFill>
                <a:latin typeface="Microsoft YaHei"/>
              </a:rPr>
              <a:t>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" y="2148840"/>
            <a:ext cx="32918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cs typeface="Microsoft YaHei"/>
                <a:ea typeface="Microsoft YaHei"/>
                <a:solidFill>
                  <a:srgbClr val="5A6A7A"/>
                </a:solidFill>
                <a:latin typeface="Microsoft YaHei"/>
              </a:rPr>
              <a:t>能讲清品牌—华勤—模组三层，知道谁决策、哪里会卡住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1417320"/>
            <a:ext cx="370332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98848" y="1618488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目标管理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29400" y="1655064"/>
            <a:ext cx="1097280" cy="329184"/>
          </a:xfrm>
          <a:prstGeom prst="roundRect">
            <a:avLst>
              <a:gd name="adj" fmla="val 40000"/>
            </a:avLst>
          </a:prstGeom>
          <a:solidFill>
            <a:srgbClr val="E6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9400" y="167335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00"/>
              </a:spcAft>
            </a:pPr>
            <a:r>
              <a:rPr sz="1200" b="1">
                <a:cs typeface="Microsoft YaHei"/>
                <a:ea typeface="Microsoft YaHei"/>
                <a:solidFill>
                  <a:srgbClr val="2E5A88"/>
                </a:solidFill>
                <a:latin typeface="Microsoft YaHei"/>
              </a:rPr>
              <a:t>中+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98848" y="2148840"/>
            <a:ext cx="32918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cs typeface="Microsoft YaHei"/>
                <a:ea typeface="Microsoft YaHei"/>
                <a:solidFill>
                  <a:srgbClr val="5A6A7A"/>
                </a:solidFill>
                <a:latin typeface="Microsoft YaHei"/>
              </a:rPr>
              <a:t>漏斗和周报已建立；A 类项目周节点还要更细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83879" y="1417320"/>
            <a:ext cx="370332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85047" y="1618488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沟通协同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515599" y="1655064"/>
            <a:ext cx="1097280" cy="329184"/>
          </a:xfrm>
          <a:prstGeom prst="roundRect">
            <a:avLst>
              <a:gd name="adj" fmla="val 40000"/>
            </a:avLst>
          </a:prstGeom>
          <a:solidFill>
            <a:srgbClr val="E6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599" y="167335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00"/>
              </a:spcAft>
            </a:pPr>
            <a:r>
              <a:rPr sz="1200" b="1">
                <a:cs typeface="Microsoft YaHei"/>
                <a:ea typeface="Microsoft YaHei"/>
                <a:solidFill>
                  <a:srgbClr val="2E5A88"/>
                </a:solidFill>
                <a:latin typeface="Microsoft YaHei"/>
              </a:rPr>
              <a:t>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85047" y="2148840"/>
            <a:ext cx="32918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cs typeface="Microsoft YaHei"/>
                <a:ea typeface="Microsoft YaHei"/>
                <a:solidFill>
                  <a:srgbClr val="5A6A7A"/>
                </a:solidFill>
                <a:latin typeface="Microsoft YaHei"/>
              </a:rPr>
              <a:t>对内对外同一套事实，与 FAE 约定可执行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1480" y="3749039"/>
            <a:ext cx="370332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2648" y="3950207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专业能力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0" y="3986783"/>
            <a:ext cx="1097280" cy="329184"/>
          </a:xfrm>
          <a:prstGeom prst="roundRect">
            <a:avLst>
              <a:gd name="adj" fmla="val 40000"/>
            </a:avLst>
          </a:prstGeom>
          <a:solidFill>
            <a:srgbClr val="E6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43200" y="4005071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00"/>
              </a:spcAft>
            </a:pPr>
            <a:r>
              <a:rPr sz="1200" b="1">
                <a:cs typeface="Microsoft YaHei"/>
                <a:ea typeface="Microsoft YaHei"/>
                <a:solidFill>
                  <a:srgbClr val="2E5A88"/>
                </a:solidFill>
                <a:latin typeface="Microsoft YaHei"/>
              </a:rPr>
              <a:t>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2648" y="4480559"/>
            <a:ext cx="32918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cs typeface="Microsoft YaHei"/>
                <a:ea typeface="Microsoft YaHei"/>
                <a:solidFill>
                  <a:srgbClr val="5A6A7A"/>
                </a:solidFill>
                <a:latin typeface="Microsoft YaHei"/>
              </a:rPr>
              <a:t>规格与导入流程已入门，IQ/OTP 仍需 FAE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97680" y="3749039"/>
            <a:ext cx="370332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98848" y="3950207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抗压担当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29400" y="3986783"/>
            <a:ext cx="1097280" cy="329184"/>
          </a:xfrm>
          <a:prstGeom prst="roundRect">
            <a:avLst>
              <a:gd name="adj" fmla="val 40000"/>
            </a:avLst>
          </a:prstGeom>
          <a:solidFill>
            <a:srgbClr val="E6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29400" y="4005071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00"/>
              </a:spcAft>
            </a:pPr>
            <a:r>
              <a:rPr sz="1200" b="1">
                <a:cs typeface="Microsoft YaHei"/>
                <a:ea typeface="Microsoft YaHei"/>
                <a:solidFill>
                  <a:srgbClr val="2E5A88"/>
                </a:solidFill>
                <a:latin typeface="Microsoft YaHei"/>
              </a:rPr>
              <a:t>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98848" y="4480559"/>
            <a:ext cx="32918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cs typeface="Microsoft YaHei"/>
                <a:ea typeface="Microsoft YaHei"/>
                <a:solidFill>
                  <a:srgbClr val="5A6A7A"/>
                </a:solidFill>
                <a:latin typeface="Microsoft YaHei"/>
              </a:rPr>
              <a:t>长周期、多角色，红灯当周暴露，不藏到月底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183879" y="3749039"/>
            <a:ext cx="370332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85047" y="3950207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结果导向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515599" y="3986783"/>
            <a:ext cx="1097280" cy="329184"/>
          </a:xfrm>
          <a:prstGeom prst="roundRect">
            <a:avLst>
              <a:gd name="adj" fmla="val 40000"/>
            </a:avLst>
          </a:prstGeom>
          <a:solidFill>
            <a:srgbClr val="E6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599" y="4005071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00"/>
              </a:spcAft>
            </a:pPr>
            <a:r>
              <a:rPr sz="1200" b="1">
                <a:cs typeface="Microsoft YaHei"/>
                <a:ea typeface="Microsoft YaHei"/>
                <a:solidFill>
                  <a:srgbClr val="2E5A88"/>
                </a:solidFill>
                <a:latin typeface="Microsoft YaHei"/>
              </a:rPr>
              <a:t>中+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85047" y="4480559"/>
            <a:ext cx="32918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cs typeface="Microsoft YaHei"/>
                <a:ea typeface="Microsoft YaHei"/>
                <a:solidFill>
                  <a:srgbClr val="5A6A7A"/>
                </a:solidFill>
                <a:latin typeface="Microsoft YaHei"/>
              </a:rPr>
              <a:t>过程结果扎实；定点与收入靠下一阶段兑现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4980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"/>
            <a:ext cx="9326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cs typeface="Microsoft YaHei"/>
                <a:ea typeface="Microsoft YaHei"/>
                <a:solidFill>
                  <a:srgbClr val="C5D0DC"/>
                </a:solidFill>
                <a:latin typeface="Microsoft YaHei"/>
              </a:rPr>
              <a:t>销售与技术服务部  |  市场营销例会  |  周报框架 260824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47472"/>
            <a:ext cx="9509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cs typeface="Microsoft YaHei"/>
                <a:ea typeface="Microsoft YaHei"/>
                <a:solidFill>
                  <a:srgbClr val="FFFFFF"/>
                </a:solidFill>
                <a:latin typeface="Microsoft YaHei"/>
              </a:rPr>
              <a:t>二、综合评价与转正判断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201168"/>
            <a:ext cx="21945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cs typeface="Microsoft YaHei"/>
                <a:ea typeface="Microsoft YaHei"/>
                <a:solidFill>
                  <a:srgbClr val="C5D0DC"/>
                </a:solidFill>
                <a:latin typeface="Microsoft YaHei"/>
              </a:rPr>
              <a:t>9 / 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11338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cs typeface="Microsoft YaHei"/>
                <a:ea typeface="Microsoft YaHei"/>
                <a:solidFill>
                  <a:srgbClr val="5A6A7A"/>
                </a:solidFill>
                <a:latin typeface="Microsoft YaHei"/>
              </a:rPr>
              <a:t>转正答辩专题  ·  华勤手机 CIS  ·  内部资料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932688"/>
            <a:ext cx="11338560" cy="347472"/>
          </a:xfrm>
          <a:prstGeom prst="rect">
            <a:avLst/>
          </a:prstGeom>
          <a:solidFill>
            <a:srgbClr val="E6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969264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>
                <a:cs typeface="Microsoft YaHei"/>
                <a:ea typeface="Microsoft YaHei"/>
                <a:solidFill>
                  <a:srgbClr val="2E5A88"/>
                </a:solidFill>
                <a:latin typeface="Microsoft YaHei"/>
              </a:rPr>
              <a:t>本期结论  匹配岗位。转正后用项目结果兑现过程能力。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1417320"/>
            <a:ext cx="11338560" cy="1280160"/>
          </a:xfrm>
          <a:prstGeom prst="roundRect">
            <a:avLst>
              <a:gd name="adj" fmla="val 4000"/>
            </a:avLst>
          </a:prstGeom>
          <a:solidFill>
            <a:srgbClr val="E6EEF6"/>
          </a:solidFill>
          <a:ln w="12700">
            <a:solidFill>
              <a:srgbClr val="C5CD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572768"/>
            <a:ext cx="1088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胜任：能在华勤这种多层决策的 ODM 上，把 CIS 销售做成可管理的项目，而不是个人关系或一次性送样。</a:t>
            </a:r>
          </a:p>
          <a:p>
            <a:pPr algn="l">
              <a:spcAft>
                <a:spcPts val="600"/>
              </a:spcAft>
            </a:pPr>
            <a:r>
              <a:rPr sz="1400" b="0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对「为何还没定点」：导入跨 EVT/DVT，周期长于试用期；竞品已在品牌短名单。试用期 KPI 应看窗口、漏斗、验证和风险暴露。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2880360"/>
            <a:ext cx="5623560" cy="3246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0632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>
                <a:cs typeface="Microsoft YaHei"/>
                <a:ea typeface="Microsoft YaHei"/>
                <a:solidFill>
                  <a:srgbClr val="2F6B4F"/>
                </a:solidFill>
                <a:latin typeface="Microsoft YaHei"/>
              </a:rPr>
              <a:t>适合留下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56616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·  不把 ODM 当渠道批发</a:t>
            </a:r>
          </a:p>
          <a:p>
            <a:pPr algn="l">
              <a:spcAft>
                <a:spcPts val="800"/>
              </a:spcAft>
            </a:pPr>
            <a:r>
              <a:rPr sz="1400" b="0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·  纪要、责任人、升级闭环清楚</a:t>
            </a:r>
          </a:p>
          <a:p>
            <a:pPr algn="l">
              <a:spcAft>
                <a:spcPts val="800"/>
              </a:spcAft>
            </a:pPr>
            <a:r>
              <a:rPr sz="1400" b="0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·  不把漏斗当业绩</a:t>
            </a:r>
          </a:p>
          <a:p>
            <a:pPr algn="l">
              <a:spcAft>
                <a:spcPts val="800"/>
              </a:spcAft>
            </a:pPr>
            <a:r>
              <a:rPr sz="1400" b="0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·  不与 FAE 抢技术结论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2880360"/>
            <a:ext cx="5577840" cy="3246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30632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>
                <a:cs typeface="Microsoft YaHei"/>
                <a:ea typeface="Microsoft YaHei"/>
                <a:solidFill>
                  <a:srgbClr val="8B4A3C"/>
                </a:solidFill>
                <a:latin typeface="Microsoft YaHei"/>
              </a:rPr>
              <a:t>必须补齐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356616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·  品牌侧渗透几乎为零</a:t>
            </a:r>
          </a:p>
          <a:p>
            <a:pPr algn="l">
              <a:spcAft>
                <a:spcPts val="800"/>
              </a:spcAft>
            </a:pPr>
            <a:r>
              <a:rPr sz="1400" b="0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·  独立商务谈判不足</a:t>
            </a:r>
          </a:p>
          <a:p>
            <a:pPr algn="l">
              <a:spcAft>
                <a:spcPts val="800"/>
              </a:spcAft>
            </a:pPr>
            <a:r>
              <a:rPr sz="1400" b="0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·  售前还不能覆盖约 70%</a:t>
            </a:r>
          </a:p>
          <a:p>
            <a:pPr algn="l">
              <a:spcAft>
                <a:spcPts val="800"/>
              </a:spcAft>
            </a:pPr>
            <a:r>
              <a:rPr sz="1400" b="0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·  A 类项目周节点仍偏粗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4980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"/>
            <a:ext cx="9326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cs typeface="Microsoft YaHei"/>
                <a:ea typeface="Microsoft YaHei"/>
                <a:solidFill>
                  <a:srgbClr val="C5D0DC"/>
                </a:solidFill>
                <a:latin typeface="Microsoft YaHei"/>
              </a:rPr>
              <a:t>销售与技术服务部  |  市场营销例会  |  周报框架 260824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47472"/>
            <a:ext cx="9509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cs typeface="Microsoft YaHei"/>
                <a:ea typeface="Microsoft YaHei"/>
                <a:solidFill>
                  <a:srgbClr val="FFFFFF"/>
                </a:solidFill>
                <a:latin typeface="Microsoft YaHei"/>
              </a:rPr>
              <a:t>三、未来规划  |  下阶段计划（90 天）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201168"/>
            <a:ext cx="21945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cs typeface="Microsoft YaHei"/>
                <a:ea typeface="Microsoft YaHei"/>
                <a:solidFill>
                  <a:srgbClr val="C5D0DC"/>
                </a:solidFill>
                <a:latin typeface="Microsoft YaHei"/>
              </a:rPr>
              <a:t>10 / 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11338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cs typeface="Microsoft YaHei"/>
                <a:ea typeface="Microsoft YaHei"/>
                <a:solidFill>
                  <a:srgbClr val="5A6A7A"/>
                </a:solidFill>
                <a:latin typeface="Microsoft YaHei"/>
              </a:rPr>
              <a:t>转正答辩专题  ·  华勤手机 CIS  ·  内部资料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932688"/>
            <a:ext cx="11338560" cy="347472"/>
          </a:xfrm>
          <a:prstGeom prst="rect">
            <a:avLst/>
          </a:prstGeom>
          <a:solidFill>
            <a:srgbClr val="E6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969264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>
                <a:cs typeface="Microsoft YaHei"/>
                <a:ea typeface="Microsoft YaHei"/>
                <a:solidFill>
                  <a:srgbClr val="2E5A88"/>
                </a:solidFill>
                <a:latin typeface="Microsoft YaHei"/>
              </a:rPr>
              <a:t>本期结论  对应周报「下周计划」。四件必须发生，用节点考核。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1417320"/>
            <a:ext cx="11338560" cy="10789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709928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>
                <a:cs typeface="Microsoft YaHei"/>
                <a:ea typeface="Microsoft YaHei"/>
                <a:solidFill>
                  <a:srgbClr val="C4A35A"/>
                </a:solidFill>
                <a:latin typeface="Microsoft YaHe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1563624"/>
            <a:ext cx="9692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验证出结论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1947672"/>
            <a:ext cx="9692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cs typeface="Microsoft YaHei"/>
                <a:ea typeface="Microsoft YaHei"/>
                <a:solidFill>
                  <a:srgbClr val="5A6A7A"/>
                </a:solidFill>
                <a:latin typeface="Microsoft YaHei"/>
              </a:rPr>
              <a:t>至少 1 个目标项目完成模组/IQ 验证，书面结论：过 / 有条件过 / 不过及原因。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587752"/>
            <a:ext cx="11338560" cy="10789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88036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>
                <a:cs typeface="Microsoft YaHei"/>
                <a:ea typeface="Microsoft YaHei"/>
                <a:solidFill>
                  <a:srgbClr val="C4A35A"/>
                </a:solidFill>
                <a:latin typeface="Microsoft YaHe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2734056"/>
            <a:ext cx="9692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品牌线索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3118104"/>
            <a:ext cx="9692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cs typeface="Microsoft YaHei"/>
                <a:ea typeface="Microsoft YaHei"/>
                <a:solidFill>
                  <a:srgbClr val="5A6A7A"/>
                </a:solidFill>
                <a:latin typeface="Microsoft YaHei"/>
              </a:rPr>
              <a:t>画出品牌—华勤—模组三方图，拿到至少 1 个品牌侧或指定模组的有效窗口。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3758184"/>
            <a:ext cx="11338560" cy="10789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050792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>
                <a:cs typeface="Microsoft YaHei"/>
                <a:ea typeface="Microsoft YaHei"/>
                <a:solidFill>
                  <a:srgbClr val="C4A35A"/>
                </a:solidFill>
                <a:latin typeface="Microsoft YaHe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3904488"/>
            <a:ext cx="9692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商务口径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91640" y="4288536"/>
            <a:ext cx="9692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cs typeface="Microsoft YaHei"/>
                <a:ea typeface="Microsoft YaHei"/>
                <a:solidFill>
                  <a:srgbClr val="5A6A7A"/>
                </a:solidFill>
                <a:latin typeface="Microsoft YaHei"/>
              </a:rPr>
              <a:t>与产品、计划锁定华勤专用报价、交期、供给原则，现场不再口头承诺。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" y="4928616"/>
            <a:ext cx="11338560" cy="10789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5221224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>
                <a:cs typeface="Microsoft YaHei"/>
                <a:ea typeface="Microsoft YaHei"/>
                <a:solidFill>
                  <a:srgbClr val="C4A35A"/>
                </a:solidFill>
                <a:latin typeface="Microsoft YaHe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91640" y="5074920"/>
            <a:ext cx="9692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机制固化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91640" y="5458968"/>
            <a:ext cx="9692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cs typeface="Microsoft YaHei"/>
                <a:ea typeface="Microsoft YaHei"/>
                <a:solidFill>
                  <a:srgbClr val="5A6A7A"/>
                </a:solidFill>
                <a:latin typeface="Microsoft YaHei"/>
              </a:rPr>
              <a:t>华勤项目月评：漏斗、风险、FAE 资源、下一步，继续进周报红黄绿。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4980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"/>
            <a:ext cx="9326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cs typeface="Microsoft YaHei"/>
                <a:ea typeface="Microsoft YaHei"/>
                <a:solidFill>
                  <a:srgbClr val="C5D0DC"/>
                </a:solidFill>
                <a:latin typeface="Microsoft YaHei"/>
              </a:rPr>
              <a:t>销售与技术服务部  |  市场营销例会  |  周报框架 260824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47472"/>
            <a:ext cx="9509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cs typeface="Microsoft YaHei"/>
                <a:ea typeface="Microsoft YaHei"/>
                <a:solidFill>
                  <a:srgbClr val="FFFFFF"/>
                </a:solidFill>
                <a:latin typeface="Microsoft YaHei"/>
              </a:rPr>
              <a:t>三、未来规划  |  12 个月展望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201168"/>
            <a:ext cx="21945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cs typeface="Microsoft YaHei"/>
                <a:ea typeface="Microsoft YaHei"/>
                <a:solidFill>
                  <a:srgbClr val="C5D0DC"/>
                </a:solidFill>
                <a:latin typeface="Microsoft YaHei"/>
              </a:rPr>
              <a:t>11 / 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11338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cs typeface="Microsoft YaHei"/>
                <a:ea typeface="Microsoft YaHei"/>
                <a:solidFill>
                  <a:srgbClr val="5A6A7A"/>
                </a:solidFill>
                <a:latin typeface="Microsoft YaHei"/>
              </a:rPr>
              <a:t>转正答辩专题  ·  华勤手机 CIS  ·  内部资料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932688"/>
            <a:ext cx="11338560" cy="347472"/>
          </a:xfrm>
          <a:prstGeom prst="rect">
            <a:avLst/>
          </a:prstGeom>
          <a:solidFill>
            <a:srgbClr val="E6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969264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>
                <a:cs typeface="Microsoft YaHei"/>
                <a:ea typeface="Microsoft YaHei"/>
                <a:solidFill>
                  <a:srgbClr val="2E5A88"/>
                </a:solidFill>
                <a:latin typeface="Microsoft YaHei"/>
              </a:rPr>
              <a:t>本期结论  把华勤做成样板账号：方法可复制，而不只是跟过一个客户。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1417320"/>
            <a:ext cx="370332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618488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>
                <a:cs typeface="Microsoft YaHei"/>
                <a:ea typeface="Microsoft YaHei"/>
                <a:solidFill>
                  <a:srgbClr val="2E5A88"/>
                </a:solidFill>
                <a:latin typeface="Microsoft YaHei"/>
              </a:rPr>
              <a:t>项目结果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103120"/>
            <a:ext cx="3246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cs typeface="Microsoft YaHei"/>
                <a:ea typeface="Microsoft YaHei"/>
                <a:solidFill>
                  <a:srgbClr val="5A6A7A"/>
                </a:solidFill>
                <a:latin typeface="Microsoft YaHei"/>
              </a:rPr>
              <a:t>1 个项目进入试产或定点路径；2–3 个稳定在验证池；杜绝只有拜访没有下一节点。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417320"/>
            <a:ext cx="370332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0" y="1618488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>
                <a:cs typeface="Microsoft YaHei"/>
                <a:ea typeface="Microsoft YaHei"/>
                <a:solidFill>
                  <a:srgbClr val="2E5A88"/>
                </a:solidFill>
                <a:latin typeface="Microsoft YaHei"/>
              </a:rPr>
              <a:t>关系结构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80" y="2103120"/>
            <a:ext cx="3246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cs typeface="Microsoft YaHei"/>
                <a:ea typeface="Microsoft YaHei"/>
                <a:solidFill>
                  <a:srgbClr val="5A6A7A"/>
                </a:solidFill>
                <a:latin typeface="Microsoft YaHei"/>
              </a:rPr>
              <a:t>项目组级关系：采购、硬件、影像、质量都有窗口和备份。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3879" y="1417320"/>
            <a:ext cx="370332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9" y="1618488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>
                <a:cs typeface="Microsoft YaHei"/>
                <a:ea typeface="Microsoft YaHei"/>
                <a:solidFill>
                  <a:srgbClr val="2E5A88"/>
                </a:solidFill>
                <a:latin typeface="Microsoft YaHei"/>
              </a:rPr>
              <a:t>产品策略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79" y="2103120"/>
            <a:ext cx="3246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cs typeface="Microsoft YaHei"/>
                <a:ea typeface="Microsoft YaHei"/>
                <a:solidFill>
                  <a:srgbClr val="5A6A7A"/>
                </a:solidFill>
                <a:latin typeface="Microsoft YaHei"/>
              </a:rPr>
              <a:t>2M 第二源破口，再向更高规格在研机型要验证机会，不一次铺太多料号。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3749039"/>
            <a:ext cx="370332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3950207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>
                <a:cs typeface="Microsoft YaHei"/>
                <a:ea typeface="Microsoft YaHei"/>
                <a:solidFill>
                  <a:srgbClr val="2E5A88"/>
                </a:solidFill>
                <a:latin typeface="Microsoft YaHei"/>
              </a:rPr>
              <a:t>组织资产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434839"/>
            <a:ext cx="3246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cs typeface="Microsoft YaHei"/>
                <a:ea typeface="Microsoft YaHei"/>
                <a:solidFill>
                  <a:srgbClr val="5A6A7A"/>
                </a:solidFill>
                <a:latin typeface="Microsoft YaHei"/>
              </a:rPr>
              <a:t>《华勤 CIS 导入包》：规格对照、setting、OTP/封装、FAQ、竞品，可交接。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0" y="3749039"/>
            <a:ext cx="370332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26280" y="3950207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>
                <a:cs typeface="Microsoft YaHei"/>
                <a:ea typeface="Microsoft YaHei"/>
                <a:solidFill>
                  <a:srgbClr val="2E5A88"/>
                </a:solidFill>
                <a:latin typeface="Microsoft YaHei"/>
              </a:rPr>
              <a:t>外溢价值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4434839"/>
            <a:ext cx="3246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cs typeface="Microsoft YaHei"/>
                <a:ea typeface="Microsoft YaHei"/>
                <a:solidFill>
                  <a:srgbClr val="5A6A7A"/>
                </a:solidFill>
                <a:latin typeface="Microsoft YaHei"/>
              </a:rPr>
              <a:t>打法复制到同类手机 ODM（如有规划），从管一个客户到管一类战场。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83879" y="3749039"/>
            <a:ext cx="370332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79" y="3950207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>
                <a:cs typeface="Microsoft YaHei"/>
                <a:ea typeface="Microsoft YaHei"/>
                <a:solidFill>
                  <a:srgbClr val="2E5A88"/>
                </a:solidFill>
                <a:latin typeface="Microsoft YaHei"/>
              </a:rPr>
              <a:t>自我能力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79" y="4434839"/>
            <a:ext cx="3246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cs typeface="Microsoft YaHei"/>
                <a:ea typeface="Microsoft YaHei"/>
                <a:solidFill>
                  <a:srgbClr val="5A6A7A"/>
                </a:solidFill>
                <a:latin typeface="Microsoft YaHei"/>
              </a:rPr>
              <a:t>独立完成约 70% 售前；复杂 IQ 协同 FAE；能主持华勤月度项目会。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4980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"/>
            <a:ext cx="9326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cs typeface="Microsoft YaHei"/>
                <a:ea typeface="Microsoft YaHei"/>
                <a:solidFill>
                  <a:srgbClr val="C5D0DC"/>
                </a:solidFill>
                <a:latin typeface="Microsoft YaHei"/>
              </a:rPr>
              <a:t>销售与技术服务部  |  市场营销例会  |  周报框架 260824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47472"/>
            <a:ext cx="9509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cs typeface="Microsoft YaHei"/>
                <a:ea typeface="Microsoft YaHei"/>
                <a:solidFill>
                  <a:srgbClr val="FFFFFF"/>
                </a:solidFill>
                <a:latin typeface="Microsoft YaHei"/>
              </a:rPr>
              <a:t>三、未来规划  |  承诺与需协调事项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201168"/>
            <a:ext cx="21945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cs typeface="Microsoft YaHei"/>
                <a:ea typeface="Microsoft YaHei"/>
                <a:solidFill>
                  <a:srgbClr val="C5D0DC"/>
                </a:solidFill>
                <a:latin typeface="Microsoft YaHei"/>
              </a:rPr>
              <a:t>12 / 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11338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cs typeface="Microsoft YaHei"/>
                <a:ea typeface="Microsoft YaHei"/>
                <a:solidFill>
                  <a:srgbClr val="5A6A7A"/>
                </a:solidFill>
                <a:latin typeface="Microsoft YaHei"/>
              </a:rPr>
              <a:t>转正答辩专题  ·  华勤手机 CIS  ·  内部资料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932688"/>
            <a:ext cx="11338560" cy="347472"/>
          </a:xfrm>
          <a:prstGeom prst="rect">
            <a:avLst/>
          </a:prstGeom>
          <a:solidFill>
            <a:srgbClr val="E6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969264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>
                <a:cs typeface="Microsoft YaHei"/>
                <a:ea typeface="Microsoft YaHei"/>
                <a:solidFill>
                  <a:srgbClr val="2E5A88"/>
                </a:solidFill>
                <a:latin typeface="Microsoft YaHei"/>
              </a:rPr>
              <a:t>本期结论  对应周报最后一页「需支持」。承诺可被周报检查。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1417320"/>
            <a:ext cx="5623560" cy="4709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6002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>
                <a:cs typeface="Microsoft YaHei"/>
                <a:ea typeface="Microsoft YaHei"/>
                <a:solidFill>
                  <a:srgbClr val="2E5A88"/>
                </a:solidFill>
                <a:latin typeface="Microsoft YaHei"/>
              </a:rPr>
              <a:t>我承诺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103120"/>
            <a:ext cx="50292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·  华勤项目进周报，红灯当周升级</a:t>
            </a:r>
          </a:p>
          <a:p>
            <a:pPr algn="l">
              <a:spcAft>
                <a:spcPts val="1000"/>
              </a:spcAft>
            </a:pPr>
            <a:r>
              <a:rPr sz="1500" b="0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·  对外口径与对内事实一致</a:t>
            </a:r>
          </a:p>
          <a:p>
            <a:pPr algn="l">
              <a:spcAft>
                <a:spcPts val="1000"/>
              </a:spcAft>
            </a:pPr>
            <a:r>
              <a:rPr sz="1500" b="0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·  不把送样数当业绩，只认下一节点</a:t>
            </a:r>
          </a:p>
          <a:p>
            <a:pPr algn="l">
              <a:spcAft>
                <a:spcPts val="1000"/>
              </a:spcAft>
            </a:pPr>
            <a:r>
              <a:rPr sz="1500" b="0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·  90 天四件事按月复盘，未完成写原因</a:t>
            </a:r>
          </a:p>
          <a:p>
            <a:pPr algn="l">
              <a:spcAft>
                <a:spcPts val="1000"/>
              </a:spcAft>
            </a:pPr>
            <a:r>
              <a:rPr sz="1500" b="0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·  与 FAE 按约定分工，不甩锅、不抢功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417320"/>
            <a:ext cx="5577840" cy="4709160"/>
          </a:xfrm>
          <a:prstGeom prst="roundRect">
            <a:avLst>
              <a:gd name="adj" fmla="val 4000"/>
            </a:avLst>
          </a:prstGeom>
          <a:solidFill>
            <a:srgbClr val="E6EEF6"/>
          </a:solidFill>
          <a:ln w="12700">
            <a:solidFill>
              <a:srgbClr val="C5CD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16002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>
                <a:cs typeface="Microsoft YaHei"/>
                <a:ea typeface="Microsoft YaHei"/>
                <a:solidFill>
                  <a:srgbClr val="C4A35A"/>
                </a:solidFill>
                <a:latin typeface="Microsoft YaHei"/>
              </a:rPr>
              <a:t>请公司支持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103120"/>
            <a:ext cx="50292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·  产品：可主推华勤的规格与 roadmap</a:t>
            </a:r>
          </a:p>
          <a:p>
            <a:pPr algn="l">
              <a:spcAft>
                <a:spcPts val="1000"/>
              </a:spcAft>
            </a:pPr>
            <a:r>
              <a:rPr sz="1500" b="0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·  FAE：验证期档期，问题 48h 响应</a:t>
            </a:r>
          </a:p>
          <a:p>
            <a:pPr algn="l">
              <a:spcAft>
                <a:spcPts val="1000"/>
              </a:spcAft>
            </a:pPr>
            <a:r>
              <a:rPr sz="1500" b="0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·  商务：能进短名单的第二源价格与供给</a:t>
            </a:r>
          </a:p>
          <a:p>
            <a:pPr algn="l">
              <a:spcAft>
                <a:spcPts val="1000"/>
              </a:spcAft>
            </a:pPr>
            <a:r>
              <a:rPr sz="1500" b="0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·  必要时协助品牌侧，避免只在 ODM 空转</a:t>
            </a:r>
          </a:p>
          <a:p>
            <a:pPr algn="l">
              <a:spcAft>
                <a:spcPts val="1000"/>
              </a:spcAft>
            </a:pPr>
            <a:r>
              <a:rPr sz="1500" b="0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·  质量/交付：导入风险清单同步对外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4980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"/>
            <a:ext cx="9326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cs typeface="Microsoft YaHei"/>
                <a:ea typeface="Microsoft YaHei"/>
                <a:solidFill>
                  <a:srgbClr val="C5D0DC"/>
                </a:solidFill>
                <a:latin typeface="Microsoft YaHei"/>
              </a:rPr>
              <a:t>销售与技术服务部  |  市场营销例会  |  周报框架 260824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47472"/>
            <a:ext cx="9509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cs typeface="Microsoft YaHei"/>
                <a:ea typeface="Microsoft YaHei"/>
                <a:solidFill>
                  <a:srgbClr val="FFFFFF"/>
                </a:solidFill>
                <a:latin typeface="Microsoft YaHei"/>
              </a:rPr>
              <a:t>答辩口头提纲（10–12 分钟）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201168"/>
            <a:ext cx="21945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cs typeface="Microsoft YaHei"/>
                <a:ea typeface="Microsoft YaHei"/>
                <a:solidFill>
                  <a:srgbClr val="C5D0DC"/>
                </a:solidFill>
                <a:latin typeface="Microsoft YaHei"/>
              </a:rPr>
              <a:t>13 / 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11338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cs typeface="Microsoft YaHei"/>
                <a:ea typeface="Microsoft YaHei"/>
                <a:solidFill>
                  <a:srgbClr val="5A6A7A"/>
                </a:solidFill>
                <a:latin typeface="Microsoft YaHei"/>
              </a:rPr>
              <a:t>转正答辩专题  ·  华勤手机 CIS  ·  内部资料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932688"/>
            <a:ext cx="11338560" cy="347472"/>
          </a:xfrm>
          <a:prstGeom prst="rect">
            <a:avLst/>
          </a:prstGeom>
          <a:solidFill>
            <a:srgbClr val="E6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969264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>
                <a:cs typeface="Microsoft YaHei"/>
                <a:ea typeface="Microsoft YaHei"/>
                <a:solidFill>
                  <a:srgbClr val="2E5A88"/>
                </a:solidFill>
                <a:latin typeface="Microsoft YaHei"/>
              </a:rPr>
              <a:t>本期结论  按周报顺序讲，评委打断时回到「灯号和下一步」。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11480" y="1417320"/>
          <a:ext cx="1133856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371600"/>
                <a:gridCol w="7772400"/>
              </a:tblGrid>
              <a:tr h="67056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>
                          <a:cs typeface="Microsoft YaHei"/>
                          <a:ea typeface="Microsoft YaHei"/>
                          <a:solidFill>
                            <a:srgbClr val="FFFFFF"/>
                          </a:solidFill>
                          <a:latin typeface="Microsoft YaHei"/>
                        </a:rPr>
                        <a:t>段落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>
                          <a:cs typeface="Microsoft YaHei"/>
                          <a:ea typeface="Microsoft YaHei"/>
                          <a:solidFill>
                            <a:srgbClr val="FFFFFF"/>
                          </a:solidFill>
                          <a:latin typeface="Microsoft YaHei"/>
                        </a:rPr>
                        <a:t>时间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>
                          <a:cs typeface="Microsoft YaHei"/>
                          <a:ea typeface="Microsoft YaHei"/>
                          <a:solidFill>
                            <a:srgbClr val="FFFFFF"/>
                          </a:solidFill>
                          <a:latin typeface="Microsoft YaHei"/>
                        </a:rPr>
                        <a:t>要讲完的一句话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开场 / 口径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1 min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0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在华勤卖 CIS，看三层客户；试用期看漏斗不看未发生的定点。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工作总结</a:t>
                      </a:r>
                    </a:p>
                  </a:txBody>
                  <a:tcPr anchor="ctr"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4 min</a:t>
                      </a:r>
                    </a:p>
                  </a:txBody>
                  <a:tcPr anchor="ctr"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0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窗口和决策链已立；2M 第二源在验证；销售×FAE 闭环可检查。</a:t>
                      </a:r>
                    </a:p>
                  </a:txBody>
                  <a:tcPr anchor="ctr">
                    <a:solidFill>
                      <a:srgbClr val="F3F6F9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问题红灯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2 min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0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AVL 未破、无定点、商务口径未锁，已进 90 天计划。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自我评价</a:t>
                      </a:r>
                    </a:p>
                  </a:txBody>
                  <a:tcPr anchor="ctr"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2 min</a:t>
                      </a:r>
                    </a:p>
                  </a:txBody>
                  <a:tcPr anchor="ctr"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0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匹配岗位；短板是品牌、商务、独立售前。</a:t>
                      </a:r>
                    </a:p>
                  </a:txBody>
                  <a:tcPr anchor="ctr">
                    <a:solidFill>
                      <a:srgbClr val="F3F6F9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规划与要支持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2 min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0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90 天四件事 + 周报检查；请产品/FAE/商务按节点给支持。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11480" y="562356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cs typeface="Microsoft YaHei"/>
                <a:ea typeface="Microsoft YaHei"/>
                <a:solidFill>
                  <a:srgbClr val="5A6A7A"/>
                </a:solidFill>
                <a:latin typeface="Microsoft YaHei"/>
              </a:rPr>
              <a:t>预判提问：①为何没定点 → 周期与 AVL。②怎么打格科 → 第二源+供给+服务。③华勤和品牌谁说了算 → 品牌短名单，华勤落地，两边都要做。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3200" b="1">
                <a:cs typeface="Microsoft YaHei"/>
                <a:ea typeface="Microsoft YaHei"/>
                <a:solidFill>
                  <a:srgbClr val="FFFFFF"/>
                </a:solidFill>
                <a:latin typeface="Microsoft YaHei"/>
              </a:rPr>
              <a:t>请批评指正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10607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cs typeface="Microsoft YaHei"/>
                <a:ea typeface="Microsoft YaHei"/>
                <a:solidFill>
                  <a:srgbClr val="C5D0DC"/>
                </a:solidFill>
                <a:latin typeface="Microsoft YaHei"/>
              </a:rPr>
              <a:t>试用期把华勤的结构和漏斗立起来了。转正后按销售与技术服务部周报机制接受检查，</a:t>
            </a:r>
          </a:p>
          <a:p>
            <a:pPr algn="l">
              <a:spcAft>
                <a:spcPts val="600"/>
              </a:spcAft>
            </a:pPr>
            <a:r>
              <a:rPr sz="1600" b="0">
                <a:cs typeface="Microsoft YaHei"/>
                <a:ea typeface="Microsoft YaHei"/>
                <a:solidFill>
                  <a:srgbClr val="C5D0DC"/>
                </a:solidFill>
                <a:latin typeface="Microsoft YaHei"/>
              </a:rPr>
              <a:t>用验证结论和定点路径，把这个账号做成公司手机 CIS 的样板。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023360"/>
            <a:ext cx="2011680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42976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cs typeface="Microsoft YaHei"/>
                <a:ea typeface="Microsoft YaHei"/>
                <a:solidFill>
                  <a:srgbClr val="C4A35A"/>
                </a:solidFill>
                <a:latin typeface="Microsoft YaHei"/>
              </a:rPr>
              <a:t>销售与技术服务部  ·  CIS 销售经理  ·  华勤手机业务</a:t>
            </a:r>
          </a:p>
          <a:p>
            <a:pPr algn="l">
              <a:spcAft>
                <a:spcPts val="400"/>
              </a:spcAft>
            </a:pPr>
            <a:r>
              <a:rPr sz="1400" b="0">
                <a:cs typeface="Microsoft YaHei"/>
                <a:ea typeface="Microsoft YaHei"/>
                <a:solidFill>
                  <a:srgbClr val="C4A35A"/>
                </a:solidFill>
                <a:latin typeface="Microsoft YaHei"/>
              </a:rPr>
              <a:t>谢谢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