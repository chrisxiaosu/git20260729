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开场：先说明岗位——在华勤卖 CIS，不是卖一颗料，而是在品牌 AVL 框架下，把公司芯片推进到可量产。试用期重点是摸清决策链、建立窗口、把项目漏斗跑起来。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强调：华勤是 ODM。很多时候品牌已经定了格科/思特威/OV。我们的切入点是第二源、供给风险对冲、以及新机型窗口。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讲这一页时点出：华勤能推荐，但品牌 AVL 不过，项目仍进不了。所以 rel 品牌窗口是下一阶段任务，试用期先把华勤内部盘清楚是正确顺序。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这一页主动请评委按短板提问。转正不是完美，是方向对、闭环在、短板有计划。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结束：开放提问。预判问题：1）为什么还没定点？2）和格科怎么打？3）华勤和品牌到底谁说了算？按前面三层客户结构回答。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B89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B89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cs typeface="Microsoft YaHei"/>
                <a:ea typeface="Microsoft YaHei"/>
                <a:solidFill>
                  <a:srgbClr val="B8954A"/>
                </a:solidFill>
                <a:latin typeface="Microsoft YaHei"/>
              </a:rPr>
              <a:t>试用期转正答辩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cs typeface="Microsoft YaHei"/>
                <a:ea typeface="Microsoft YaHei"/>
                <a:solidFill>
                  <a:srgbClr val="FFFFFF"/>
                </a:solidFill>
                <a:latin typeface="Microsoft YaHei"/>
              </a:rPr>
              <a:t>把华勤做成可复制的手机 CIS 账号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71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cs typeface="Microsoft YaHei"/>
                <a:ea typeface="Microsoft YaHei"/>
                <a:solidFill>
                  <a:srgbClr val="C5D0D8"/>
                </a:solidFill>
                <a:latin typeface="Microsoft YaHei"/>
              </a:rPr>
              <a:t>CIS 销售经理  ·  负责华勤手机业务  ·  销售公司 CIS 芯片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840480"/>
            <a:ext cx="2194560" cy="73152"/>
          </a:xfrm>
          <a:prstGeom prst="roundRect">
            <a:avLst>
              <a:gd name="adj" fmla="val 0"/>
            </a:avLst>
          </a:prstGeom>
          <a:solidFill>
            <a:srgbClr val="B89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1605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cs typeface="Microsoft YaHei"/>
                <a:ea typeface="Microsoft YaHei"/>
                <a:solidFill>
                  <a:srgbClr val="B8954A"/>
                </a:solidFill>
                <a:latin typeface="Microsoft YaHei"/>
              </a:rPr>
              <a:t>汇报人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480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cs typeface="Microsoft YaHei"/>
                <a:ea typeface="Microsoft YaHei"/>
                <a:solidFill>
                  <a:srgbClr val="FFFFFF"/>
                </a:solidFill>
                <a:latin typeface="Microsoft YaHei"/>
              </a:rPr>
              <a:t>CIS 销售经理（华勤手机）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41605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cs typeface="Microsoft YaHei"/>
                <a:ea typeface="Microsoft YaHei"/>
                <a:solidFill>
                  <a:srgbClr val="B8954A"/>
                </a:solidFill>
                <a:latin typeface="Microsoft YaHei"/>
              </a:rPr>
              <a:t>客户定位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4480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cs typeface="Microsoft YaHei"/>
                <a:ea typeface="Microsoft YaHei"/>
                <a:solidFill>
                  <a:srgbClr val="FFFFFF"/>
                </a:solidFill>
                <a:latin typeface="Microsoft YaHei"/>
              </a:rPr>
              <a:t>华勤 · 手机 ODM · CIS 导入与定点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41605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cs typeface="Microsoft YaHei"/>
                <a:ea typeface="Microsoft YaHei"/>
                <a:solidFill>
                  <a:srgbClr val="B8954A"/>
                </a:solidFill>
                <a:latin typeface="Microsoft YaHei"/>
              </a:rPr>
              <a:t>汇报日期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4480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cs typeface="Microsoft YaHei"/>
                <a:ea typeface="Microsoft YaHei"/>
                <a:solidFill>
                  <a:srgbClr val="FFFFFF"/>
                </a:solidFill>
                <a:latin typeface="Microsoft YaHei"/>
              </a:rPr>
              <a:t>2026 年 8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B89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汇报大纲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约 15 分钟  ·  先讲清楚做了什么，再判断是否胜任，最后看下一阶段怎么打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9326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转正答辩  ·  CIS 销售经理  ·  华勤手机业务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6539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2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43000"/>
            <a:ext cx="111556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1188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cs typeface="Microsoft YaHei"/>
                <a:ea typeface="Microsoft YaHei"/>
                <a:solidFill>
                  <a:srgbClr val="B8954A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399032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试用期工作总结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801368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cs typeface="Microsoft YaHei"/>
                <a:ea typeface="Microsoft YaHei"/>
                <a:solidFill>
                  <a:srgbClr val="2A5A73"/>
                </a:solidFill>
                <a:latin typeface="Microsoft YaHei"/>
              </a:rPr>
              <a:t>客户经营 · 项目导入 · 内部协同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10312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华勤决策链、项目漏斗、送样验证、销售与 FAE 闭环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788920"/>
            <a:ext cx="111556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54680"/>
            <a:ext cx="1188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cs typeface="Microsoft YaHei"/>
                <a:ea typeface="Microsoft YaHei"/>
                <a:solidFill>
                  <a:srgbClr val="B8954A"/>
                </a:solidFill>
                <a:latin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044952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试用期自我评价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447288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cs typeface="Microsoft YaHei"/>
                <a:ea typeface="Microsoft YaHei"/>
                <a:solidFill>
                  <a:srgbClr val="2A5A73"/>
                </a:solidFill>
                <a:latin typeface="Microsoft YaHei"/>
              </a:rPr>
              <a:t>胜任点 · 短板 · 匹配度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74904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用过程指标评价：窗口、漏斗、闭环，而不是尚未发生的定点金额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434840"/>
            <a:ext cx="111556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800600"/>
            <a:ext cx="1188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cs typeface="Microsoft YaHei"/>
                <a:ea typeface="Microsoft YaHei"/>
                <a:solidFill>
                  <a:srgbClr val="B8954A"/>
                </a:solidFill>
                <a:latin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4690872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未来规划与展望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5093208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cs typeface="Microsoft YaHei"/>
                <a:ea typeface="Microsoft YaHei"/>
                <a:solidFill>
                  <a:srgbClr val="2A5A73"/>
                </a:solidFill>
                <a:latin typeface="Microsoft YaHei"/>
              </a:rPr>
              <a:t>90 天  ·  12 个月  ·  诉求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53949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把华勤做成样板账号，形成可复制到其他手机 ODM 的打法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B89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岗位认知：在华勤卖 CIS，实际在做什么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先对齐评价口径——试用期的产出是「可推进的项目」而不是「已经量产的金额」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9326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转正答辩  ·  CIS 销售经理  ·  华勤手机业务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6539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3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43000"/>
            <a:ext cx="361188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143000"/>
            <a:ext cx="109728" cy="4160520"/>
          </a:xfrm>
          <a:prstGeom prst="rect">
            <a:avLst/>
          </a:prstGeom>
          <a:solidFill>
            <a:srgbClr val="B89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417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三层客户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品牌方管规格与 AVL，华勤管落地节奏与第二源建议，模组厂管工程验证。销售要同时看见这三层，不能只对接一个窗口。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143000"/>
            <a:ext cx="361188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143000"/>
            <a:ext cx="109728" cy="4160520"/>
          </a:xfrm>
          <a:prstGeom prst="rect">
            <a:avLst/>
          </a:prstGeom>
          <a:solidFill>
            <a:srgbClr val="2A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417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一条链路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01168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情报 → 规格匹配 → 送样 → 模组/IQ 验证 → EVT/DVT → 定点 → 量产。试用期必须把前半段跑通，后半段用漏斗管理。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143000"/>
            <a:ext cx="361188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143000"/>
            <a:ext cx="109728" cy="4160520"/>
          </a:xfrm>
          <a:prstGeom prst="rect">
            <a:avLst/>
          </a:prstGeom>
          <a:solidFill>
            <a:srgbClr val="2A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417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销售产出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01168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项目情报、选型卡位、送样与问题闭环、价格与供给口径、客情与内部协同。芯片参数由 FAE 支撑，销售负责把节点往前推。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B89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试用期工作总览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四条线并行：摸清客户、卡位项目、建立机制、补齐专业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9326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转正答辩  ·  CIS 销售经理  ·  华勤手机业务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6539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4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15568"/>
            <a:ext cx="5577840" cy="2331720"/>
          </a:xfrm>
          <a:prstGeom prst="roundRect">
            <a:avLst>
              <a:gd name="adj" fmla="val 8000"/>
            </a:avLst>
          </a:prstGeom>
          <a:solidFill>
            <a:srgbClr val="E8F0F4"/>
          </a:solidFill>
          <a:ln w="12700">
            <a:solidFill>
              <a:srgbClr val="D8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1673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cs typeface="Microsoft YaHei"/>
                <a:ea typeface="Microsoft YaHei"/>
                <a:solidFill>
                  <a:srgbClr val="2A5A73"/>
                </a:solidFill>
                <a:latin typeface="Microsoft YaHei"/>
              </a:rPr>
              <a:t>01  客户经营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01368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·  完成华勤手机 CIS 决策链梳理</a:t>
            </a:r>
          </a:p>
          <a:p>
            <a:pPr algn="l">
              <a:spcAft>
                <a:spcPts val="400"/>
              </a:spcAft>
            </a:pPr>
            <a:r>
              <a:rPr sz="1300" b="0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·  建立采购 / 项目 / 技术三线窗口</a:t>
            </a:r>
          </a:p>
          <a:p>
            <a:pPr algn="l">
              <a:spcAft>
                <a:spcPts val="400"/>
              </a:spcAft>
            </a:pPr>
            <a:r>
              <a:rPr sz="1300" b="0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·  明确 ODM 角色与品牌 AVL 约束</a:t>
            </a:r>
          </a:p>
          <a:p>
            <a:pPr algn="l">
              <a:spcAft>
                <a:spcPts val="400"/>
              </a:spcAft>
            </a:pPr>
            <a:r>
              <a:rPr sz="1300" b="0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·  形成稳定沟通节奏与拜访纪要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115568"/>
            <a:ext cx="5577840" cy="2331720"/>
          </a:xfrm>
          <a:prstGeom prst="roundRect">
            <a:avLst>
              <a:gd name="adj" fmla="val 8000"/>
            </a:avLst>
          </a:prstGeom>
          <a:solidFill>
            <a:srgbClr val="F4EEE0"/>
          </a:solidFill>
          <a:ln w="12700">
            <a:solidFill>
              <a:srgbClr val="D8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79" y="131673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cs typeface="Microsoft YaHei"/>
                <a:ea typeface="Microsoft YaHei"/>
                <a:solidFill>
                  <a:srgbClr val="B8954A"/>
                </a:solidFill>
                <a:latin typeface="Microsoft YaHei"/>
              </a:rPr>
              <a:t>02  项目导入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1801368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·  输出在研机型与摄像头规格地图</a:t>
            </a:r>
          </a:p>
          <a:p>
            <a:pPr algn="l">
              <a:spcAft>
                <a:spcPts val="400"/>
              </a:spcAft>
            </a:pPr>
            <a:r>
              <a:rPr sz="1300" b="0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·  2M 等规格对标成熟竞品卡位</a:t>
            </a:r>
          </a:p>
          <a:p>
            <a:pPr algn="l">
              <a:spcAft>
                <a:spcPts val="400"/>
              </a:spcAft>
            </a:pPr>
            <a:r>
              <a:rPr sz="1300" b="0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·  组织送样，协同 FAE 验证闭环</a:t>
            </a:r>
          </a:p>
          <a:p>
            <a:pPr algn="l">
              <a:spcAft>
                <a:spcPts val="400"/>
              </a:spcAft>
            </a:pPr>
            <a:r>
              <a:rPr sz="1300" b="0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·  项目分级（A/B/C）进入漏斗管理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675887"/>
            <a:ext cx="5577840" cy="2331720"/>
          </a:xfrm>
          <a:prstGeom prst="roundRect">
            <a:avLst>
              <a:gd name="adj" fmla="val 8000"/>
            </a:avLst>
          </a:prstGeom>
          <a:solidFill>
            <a:srgbClr val="E8EEE6"/>
          </a:solidFill>
          <a:ln w="12700">
            <a:solidFill>
              <a:srgbClr val="D8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877055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cs typeface="Microsoft YaHei"/>
                <a:ea typeface="Microsoft YaHei"/>
                <a:solidFill>
                  <a:srgbClr val="4A6F5A"/>
                </a:solidFill>
                <a:latin typeface="Microsoft YaHei"/>
              </a:rPr>
              <a:t>03  内部协同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61687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·  把客户语言翻译成内部任务</a:t>
            </a:r>
          </a:p>
          <a:p>
            <a:pPr algn="l">
              <a:spcAft>
                <a:spcPts val="400"/>
              </a:spcAft>
            </a:pPr>
            <a:r>
              <a:rPr sz="1300" b="0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·  与 FAE / 质量 / 计划对齐接口</a:t>
            </a:r>
          </a:p>
          <a:p>
            <a:pPr algn="l">
              <a:spcAft>
                <a:spcPts val="400"/>
              </a:spcAft>
            </a:pPr>
            <a:r>
              <a:rPr sz="1300" b="0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·  周报红黄绿，不报喜藏忧</a:t>
            </a:r>
          </a:p>
          <a:p>
            <a:pPr algn="l">
              <a:spcAft>
                <a:spcPts val="400"/>
              </a:spcAft>
            </a:pPr>
            <a:r>
              <a:rPr sz="1300" b="0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·  补齐导入包：规格、setting、FAQ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3675887"/>
            <a:ext cx="5577840" cy="2331720"/>
          </a:xfrm>
          <a:prstGeom prst="roundRect">
            <a:avLst>
              <a:gd name="adj" fmla="val 8000"/>
            </a:avLst>
          </a:prstGeom>
          <a:solidFill>
            <a:srgbClr val="F3EEF0"/>
          </a:solidFill>
          <a:ln w="12700">
            <a:solidFill>
              <a:srgbClr val="D8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79" y="3877055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cs typeface="Microsoft YaHei"/>
                <a:ea typeface="Microsoft YaHei"/>
                <a:solidFill>
                  <a:srgbClr val="6B4E5A"/>
                </a:solidFill>
                <a:latin typeface="Microsoft YaHei"/>
              </a:rPr>
              <a:t>04  专业内功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79" y="4361687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·  吃透手机向 CIS 规格与竞品</a:t>
            </a:r>
          </a:p>
          <a:p>
            <a:pPr algn="l">
              <a:spcAft>
                <a:spcPts val="400"/>
              </a:spcAft>
            </a:pPr>
            <a:r>
              <a:rPr sz="1300" b="0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·  掌握送样、OTP、模组验证节奏</a:t>
            </a:r>
          </a:p>
          <a:p>
            <a:pPr algn="l">
              <a:spcAft>
                <a:spcPts val="400"/>
              </a:spcAft>
            </a:pPr>
            <a:r>
              <a:rPr sz="1300" b="0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·  学习华勤项目节点（EVT/DVT/MP）</a:t>
            </a:r>
          </a:p>
          <a:p>
            <a:pPr algn="l">
              <a:spcAft>
                <a:spcPts val="400"/>
              </a:spcAft>
            </a:pPr>
            <a:r>
              <a:rPr sz="1300" b="0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·  能独立完成常规拜访与纪要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B89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试用期节奏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按「先结构、后项目、再机制」推进，避免一上来只追一颗料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9326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转正答辩  ·  CIS 销售经理  ·  华勤手机业务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6539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5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1417320"/>
            <a:ext cx="9784080" cy="54864"/>
          </a:xfrm>
          <a:prstGeom prst="rect">
            <a:avLst/>
          </a:prstGeom>
          <a:solidFill>
            <a:srgbClr val="D8D3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57400" y="1298448"/>
            <a:ext cx="292608" cy="292608"/>
          </a:xfrm>
          <a:prstGeom prst="ellipse">
            <a:avLst/>
          </a:prstGeom>
          <a:solidFill>
            <a:srgbClr val="2A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874519"/>
            <a:ext cx="361188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57400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cs typeface="Microsoft YaHei"/>
                <a:ea typeface="Microsoft YaHei"/>
                <a:solidFill>
                  <a:srgbClr val="B8954A"/>
                </a:solidFill>
                <a:latin typeface="Microsoft YaHei"/>
              </a:rPr>
              <a:t>第 1 阶段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融入与摸底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26080"/>
            <a:ext cx="3063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·  产品、竞品、导入流程学习</a:t>
            </a:r>
          </a:p>
          <a:p>
            <a:pPr algn="l">
              <a:spcAft>
                <a:spcPts val="800"/>
              </a:spcAft>
            </a:pPr>
            <a:r>
              <a:rPr sz="14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·  华勤组织与决策链访谈</a:t>
            </a:r>
          </a:p>
          <a:p>
            <a:pPr algn="l">
              <a:spcAft>
                <a:spcPts val="800"/>
              </a:spcAft>
            </a:pPr>
            <a:r>
              <a:rPr sz="14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·  识别在研机型与现有供应商</a:t>
            </a:r>
          </a:p>
          <a:p>
            <a:pPr algn="l">
              <a:spcAft>
                <a:spcPts val="800"/>
              </a:spcAft>
            </a:pPr>
            <a:r>
              <a:rPr sz="14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·  确定主对接与备份窗口</a:t>
            </a:r>
          </a:p>
        </p:txBody>
      </p:sp>
      <p:sp>
        <p:nvSpPr>
          <p:cNvPr id="14" name="Oval 13"/>
          <p:cNvSpPr/>
          <p:nvPr/>
        </p:nvSpPr>
        <p:spPr>
          <a:xfrm>
            <a:off x="5897880" y="1298448"/>
            <a:ext cx="292608" cy="292608"/>
          </a:xfrm>
          <a:prstGeom prst="ellipse">
            <a:avLst/>
          </a:prstGeom>
          <a:solidFill>
            <a:srgbClr val="2A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43400" y="1874519"/>
            <a:ext cx="361188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2057400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cs typeface="Microsoft YaHei"/>
                <a:ea typeface="Microsoft YaHei"/>
                <a:solidFill>
                  <a:srgbClr val="B8954A"/>
                </a:solidFill>
                <a:latin typeface="Microsoft YaHei"/>
              </a:rPr>
              <a:t>第 2 阶段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37744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卡位与送样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926080"/>
            <a:ext cx="3063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·  规格对照表（我司 vs 成熟料）</a:t>
            </a:r>
          </a:p>
          <a:p>
            <a:pPr algn="l">
              <a:spcAft>
                <a:spcPts val="800"/>
              </a:spcAft>
            </a:pPr>
            <a:r>
              <a:rPr sz="14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·  目标机型送样与模组协同</a:t>
            </a:r>
          </a:p>
          <a:p>
            <a:pPr algn="l">
              <a:spcAft>
                <a:spcPts val="800"/>
              </a:spcAft>
            </a:pPr>
            <a:r>
              <a:rPr sz="14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·  FAE 陪访，问题 48h 闭环</a:t>
            </a:r>
          </a:p>
          <a:p>
            <a:pPr algn="l">
              <a:spcAft>
                <a:spcPts val="800"/>
              </a:spcAft>
            </a:pPr>
            <a:r>
              <a:rPr sz="14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·  报价与交期口径内部对齐</a:t>
            </a:r>
          </a:p>
        </p:txBody>
      </p:sp>
      <p:sp>
        <p:nvSpPr>
          <p:cNvPr id="19" name="Oval 18"/>
          <p:cNvSpPr/>
          <p:nvPr/>
        </p:nvSpPr>
        <p:spPr>
          <a:xfrm>
            <a:off x="9738360" y="1298448"/>
            <a:ext cx="292608" cy="292608"/>
          </a:xfrm>
          <a:prstGeom prst="ellipse">
            <a:avLst/>
          </a:prstGeom>
          <a:solidFill>
            <a:srgbClr val="B89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83880" y="1874519"/>
            <a:ext cx="361188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2057400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cs typeface="Microsoft YaHei"/>
                <a:ea typeface="Microsoft YaHei"/>
                <a:solidFill>
                  <a:srgbClr val="B8954A"/>
                </a:solidFill>
                <a:latin typeface="Microsoft YaHei"/>
              </a:rPr>
              <a:t>第 3 阶段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37744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漏斗与复盘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926080"/>
            <a:ext cx="3063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·  项目 A/B/C 分级周更新</a:t>
            </a:r>
          </a:p>
          <a:p>
            <a:pPr algn="l">
              <a:spcAft>
                <a:spcPts val="800"/>
              </a:spcAft>
            </a:pPr>
            <a:r>
              <a:rPr sz="14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·  验证进展与风险升级</a:t>
            </a:r>
          </a:p>
          <a:p>
            <a:pPr algn="l">
              <a:spcAft>
                <a:spcPts val="800"/>
              </a:spcAft>
            </a:pPr>
            <a:r>
              <a:rPr sz="14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·  客情复盘：谁决策、谁影响</a:t>
            </a:r>
          </a:p>
          <a:p>
            <a:pPr algn="l">
              <a:spcAft>
                <a:spcPts val="800"/>
              </a:spcAft>
            </a:pPr>
            <a:r>
              <a:rPr sz="14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·  形成华勤账号作战手册初稿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B89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客户经营：华勤决策链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ODM 不是单一采购关系。每个角色要的东西不同，销售动作必须拆开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9326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转正答辩  ·  CIS 销售经理  ·  华勤手机业务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6539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6 / 16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097280"/>
          <a:ext cx="1115568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206240"/>
                <a:gridCol w="4937760"/>
              </a:tblGrid>
              <a:tr h="815340">
                <a:tc>
                  <a:txBody>
                    <a:bodyPr/>
                    <a:lstStyle/>
                    <a:p>
                      <a:r>
                        <a:rPr sz="1300" b="1">
                          <a:cs typeface="Microsoft YaHei"/>
                          <a:ea typeface="Microsoft YaHei"/>
                          <a:solidFill>
                            <a:srgbClr val="FFFFFF"/>
                          </a:solidFill>
                          <a:latin typeface="Microsoft YaHei"/>
                        </a:rPr>
                        <a:t>角色</a:t>
                      </a:r>
                    </a:p>
                  </a:txBody>
                  <a:tcPr anchor="ctr">
                    <a:solidFill>
                      <a:srgbClr val="2A5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cs typeface="Microsoft YaHei"/>
                          <a:ea typeface="Microsoft YaHei"/>
                          <a:solidFill>
                            <a:srgbClr val="FFFFFF"/>
                          </a:solidFill>
                          <a:latin typeface="Microsoft YaHei"/>
                        </a:rPr>
                        <a:t>他关心什么</a:t>
                      </a:r>
                    </a:p>
                  </a:txBody>
                  <a:tcPr anchor="ctr">
                    <a:solidFill>
                      <a:srgbClr val="2A5A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cs typeface="Microsoft YaHei"/>
                          <a:ea typeface="Microsoft YaHei"/>
                          <a:solidFill>
                            <a:srgbClr val="FFFFFF"/>
                          </a:solidFill>
                          <a:latin typeface="Microsoft YaHei"/>
                        </a:rPr>
                        <a:t>试用期我做了什么</a:t>
                      </a:r>
                    </a:p>
                  </a:txBody>
                  <a:tcPr anchor="ctr">
                    <a:solidFill>
                      <a:srgbClr val="2A5A73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r>
                        <a:rPr sz="1300" b="1">
                          <a:cs typeface="Microsoft YaHei"/>
                          <a:ea typeface="Microsoft YaHei"/>
                          <a:solidFill>
                            <a:srgbClr val="1B2A3A"/>
                          </a:solidFill>
                          <a:latin typeface="Microsoft YaHei"/>
                        </a:rPr>
                        <a:t>项目经理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>
                          <a:cs typeface="Microsoft YaHei"/>
                          <a:ea typeface="Microsoft YaHei"/>
                          <a:solidFill>
                            <a:srgbClr val="1B2A3A"/>
                          </a:solidFill>
                          <a:latin typeface="Microsoft YaHei"/>
                        </a:rPr>
                        <a:t>节点、风险、能否赶上 EVT/DVT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>
                          <a:cs typeface="Microsoft YaHei"/>
                          <a:ea typeface="Microsoft YaHei"/>
                          <a:solidFill>
                            <a:srgbClr val="1B2A3A"/>
                          </a:solidFill>
                          <a:latin typeface="Microsoft YaHei"/>
                        </a:rPr>
                        <a:t>对齐机型节奏，不把未验证的料推进关键路径</a:t>
                      </a:r>
                    </a:p>
                  </a:txBody>
                  <a:tcPr anchor="ctr"/>
                </a:tc>
              </a:tr>
              <a:tr h="815340">
                <a:tc>
                  <a:txBody>
                    <a:bodyPr/>
                    <a:lstStyle/>
                    <a:p>
                      <a:r>
                        <a:rPr sz="1300" b="1">
                          <a:cs typeface="Microsoft YaHei"/>
                          <a:ea typeface="Microsoft YaHei"/>
                          <a:solidFill>
                            <a:srgbClr val="1B2A3A"/>
                          </a:solidFill>
                          <a:latin typeface="Microsoft YaHei"/>
                        </a:rPr>
                        <a:t>摄像头硬件</a:t>
                      </a:r>
                    </a:p>
                  </a:txBody>
                  <a:tcPr anchor="ctr">
                    <a:solidFill>
                      <a:srgbClr val="F3F1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cs typeface="Microsoft YaHei"/>
                          <a:ea typeface="Microsoft YaHei"/>
                          <a:solidFill>
                            <a:srgbClr val="1B2A3A"/>
                          </a:solidFill>
                          <a:latin typeface="Microsoft YaHei"/>
                        </a:rPr>
                        <a:t>规格匹配、脚位/封装、替代可行性</a:t>
                      </a:r>
                    </a:p>
                  </a:txBody>
                  <a:tcPr anchor="ctr">
                    <a:solidFill>
                      <a:srgbClr val="F3F1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cs typeface="Microsoft YaHei"/>
                          <a:ea typeface="Microsoft YaHei"/>
                          <a:solidFill>
                            <a:srgbClr val="1B2A3A"/>
                          </a:solidFill>
                          <a:latin typeface="Microsoft YaHei"/>
                        </a:rPr>
                        <a:t>输出对照表，明确能否第二源、改板成本</a:t>
                      </a:r>
                    </a:p>
                  </a:txBody>
                  <a:tcPr anchor="ctr">
                    <a:solidFill>
                      <a:srgbClr val="F3F1ED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r>
                        <a:rPr sz="1300" b="1">
                          <a:cs typeface="Microsoft YaHei"/>
                          <a:ea typeface="Microsoft YaHei"/>
                          <a:solidFill>
                            <a:srgbClr val="1B2A3A"/>
                          </a:solidFill>
                          <a:latin typeface="Microsoft YaHei"/>
                        </a:rPr>
                        <a:t>影像 / 调试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>
                          <a:cs typeface="Microsoft YaHei"/>
                          <a:ea typeface="Microsoft YaHei"/>
                          <a:solidFill>
                            <a:srgbClr val="1B2A3A"/>
                          </a:solidFill>
                          <a:latin typeface="Microsoft YaHei"/>
                        </a:rPr>
                        <a:t>IQ、线性、噪声、暗角、验证结论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>
                          <a:cs typeface="Microsoft YaHei"/>
                          <a:ea typeface="Microsoft YaHei"/>
                          <a:solidFill>
                            <a:srgbClr val="1B2A3A"/>
                          </a:solidFill>
                          <a:latin typeface="Microsoft YaHei"/>
                        </a:rPr>
                        <a:t>拉 FAE 进现场，问题闭环进纪要</a:t>
                      </a:r>
                    </a:p>
                  </a:txBody>
                  <a:tcPr anchor="ctr"/>
                </a:tc>
              </a:tr>
              <a:tr h="815340">
                <a:tc>
                  <a:txBody>
                    <a:bodyPr/>
                    <a:lstStyle/>
                    <a:p>
                      <a:r>
                        <a:rPr sz="1300" b="1">
                          <a:cs typeface="Microsoft YaHei"/>
                          <a:ea typeface="Microsoft YaHei"/>
                          <a:solidFill>
                            <a:srgbClr val="1B2A3A"/>
                          </a:solidFill>
                          <a:latin typeface="Microsoft YaHei"/>
                        </a:rPr>
                        <a:t>采购</a:t>
                      </a:r>
                    </a:p>
                  </a:txBody>
                  <a:tcPr anchor="ctr">
                    <a:solidFill>
                      <a:srgbClr val="F3F1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cs typeface="Microsoft YaHei"/>
                          <a:ea typeface="Microsoft YaHei"/>
                          <a:solidFill>
                            <a:srgbClr val="1B2A3A"/>
                          </a:solidFill>
                          <a:latin typeface="Microsoft YaHei"/>
                        </a:rPr>
                        <a:t>价格、交期、供给安全、商务条款</a:t>
                      </a:r>
                    </a:p>
                  </a:txBody>
                  <a:tcPr anchor="ctr">
                    <a:solidFill>
                      <a:srgbClr val="F3F1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cs typeface="Microsoft YaHei"/>
                          <a:ea typeface="Microsoft YaHei"/>
                          <a:solidFill>
                            <a:srgbClr val="1B2A3A"/>
                          </a:solidFill>
                          <a:latin typeface="Microsoft YaHei"/>
                        </a:rPr>
                        <a:t>建立窗口，同步公司供给与报价原则</a:t>
                      </a:r>
                    </a:p>
                  </a:txBody>
                  <a:tcPr anchor="ctr">
                    <a:solidFill>
                      <a:srgbClr val="F3F1ED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r>
                        <a:rPr sz="1300" b="1">
                          <a:cs typeface="Microsoft YaHei"/>
                          <a:ea typeface="Microsoft YaHei"/>
                          <a:solidFill>
                            <a:srgbClr val="1B2A3A"/>
                          </a:solidFill>
                          <a:latin typeface="Microsoft YaHei"/>
                        </a:rPr>
                        <a:t>质量 / 计划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>
                          <a:cs typeface="Microsoft YaHei"/>
                          <a:ea typeface="Microsoft YaHei"/>
                          <a:solidFill>
                            <a:srgbClr val="1B2A3A"/>
                          </a:solidFill>
                          <a:latin typeface="Microsoft YaHei"/>
                        </a:rPr>
                        <a:t>可靠性、客诉、上量节奏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>
                          <a:cs typeface="Microsoft YaHei"/>
                          <a:ea typeface="Microsoft YaHei"/>
                          <a:solidFill>
                            <a:srgbClr val="1B2A3A"/>
                          </a:solidFill>
                          <a:latin typeface="Microsoft YaHei"/>
                        </a:rPr>
                        <a:t>提前暴露封装/回流/OTP 等导入风险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B89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项目推进：漏斗而不是「跟一颗料」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试用期目标是把漏斗建起来，并让 A 类项目进入验证，而不是承诺立刻定点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9326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转正答辩  ·  CIS 销售经理  ·  华勤手机业务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6539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7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1874519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325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cs typeface="Microsoft YaHei"/>
                <a:ea typeface="Microsoft YaHei"/>
                <a:solidFill>
                  <a:srgbClr val="B8954A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737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情报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194560"/>
            <a:ext cx="1645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机型、像素档、现有供应商、开案窗口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21408" y="1965960"/>
            <a:ext cx="256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cs typeface="Microsoft YaHei"/>
                <a:ea typeface="Microsoft YaHei"/>
                <a:solidFill>
                  <a:srgbClr val="B8954A"/>
                </a:solidFill>
                <a:latin typeface="Microsoft YaHei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31720" y="1188720"/>
            <a:ext cx="1874519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41448" y="1325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cs typeface="Microsoft YaHei"/>
                <a:ea typeface="Microsoft YaHei"/>
                <a:solidFill>
                  <a:srgbClr val="B8954A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41448" y="1737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匹配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41448" y="2194560"/>
            <a:ext cx="1645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规格/封装/接口能否进短名单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7368" y="1965960"/>
            <a:ext cx="256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cs typeface="Microsoft YaHei"/>
                <a:ea typeface="Microsoft YaHei"/>
                <a:solidFill>
                  <a:srgbClr val="B8954A"/>
                </a:solidFill>
                <a:latin typeface="Microsoft YaHei"/>
              </a:rP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188720"/>
            <a:ext cx="1874519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07408" y="1325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cs typeface="Microsoft YaHei"/>
                <a:ea typeface="Microsoft YaHei"/>
                <a:solidFill>
                  <a:srgbClr val="B8954A"/>
                </a:solidFill>
                <a:latin typeface="Microsoft Ya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1737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送样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2194560"/>
            <a:ext cx="1645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芯片+模组路径，资料包齐全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53328" y="1965960"/>
            <a:ext cx="256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cs typeface="Microsoft YaHei"/>
                <a:ea typeface="Microsoft YaHei"/>
                <a:solidFill>
                  <a:srgbClr val="B8954A"/>
                </a:solidFill>
                <a:latin typeface="Microsoft YaHei"/>
              </a:rPr>
              <a:t>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188720"/>
            <a:ext cx="1874519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1325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cs typeface="Microsoft YaHei"/>
                <a:ea typeface="Microsoft YaHei"/>
                <a:solidFill>
                  <a:srgbClr val="B8954A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1737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验证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2194560"/>
            <a:ext cx="1645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IQ / 可靠性 / 产线，问题闭环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19288" y="1965960"/>
            <a:ext cx="256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cs typeface="Microsoft YaHei"/>
                <a:ea typeface="Microsoft YaHei"/>
                <a:solidFill>
                  <a:srgbClr val="B8954A"/>
                </a:solidFill>
                <a:latin typeface="Microsoft YaHei"/>
              </a:rPr>
              <a:t>&gt;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1188720"/>
            <a:ext cx="1874519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9328" y="1325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cs typeface="Microsoft YaHei"/>
                <a:ea typeface="Microsoft YaHei"/>
                <a:solidFill>
                  <a:srgbClr val="B8954A"/>
                </a:solidFill>
                <a:latin typeface="Microsoft YaHe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8" y="1737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定点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9328" y="2194560"/>
            <a:ext cx="1645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商务+质量+计划同时过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85248" y="1965960"/>
            <a:ext cx="256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cs typeface="Microsoft YaHei"/>
                <a:ea typeface="Microsoft YaHei"/>
                <a:solidFill>
                  <a:srgbClr val="B8954A"/>
                </a:solidFill>
                <a:latin typeface="Microsoft YaHei"/>
              </a:rPr>
              <a:t>&gt;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95560" y="1188720"/>
            <a:ext cx="1874519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05288" y="1325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cs typeface="Microsoft YaHei"/>
                <a:ea typeface="Microsoft YaHei"/>
                <a:solidFill>
                  <a:srgbClr val="B8954A"/>
                </a:solidFill>
                <a:latin typeface="Microsoft YaHe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05288" y="1737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量产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05288" y="2194560"/>
            <a:ext cx="1645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交期、品质、变更受控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3566160"/>
            <a:ext cx="5486400" cy="2468880"/>
          </a:xfrm>
          <a:prstGeom prst="roundRect">
            <a:avLst>
              <a:gd name="adj" fmla="val 8000"/>
            </a:avLst>
          </a:prstGeom>
          <a:solidFill>
            <a:srgbClr val="E8F0F4"/>
          </a:solidFill>
          <a:ln w="12700">
            <a:solidFill>
              <a:srgbClr val="D8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7490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cs typeface="Microsoft YaHei"/>
                <a:ea typeface="Microsoft YaHei"/>
                <a:solidFill>
                  <a:srgbClr val="2A5A73"/>
                </a:solidFill>
                <a:latin typeface="Microsoft YaHei"/>
              </a:rPr>
              <a:t>试用期实际停在哪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0624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·  1–3 步：已跑通方法和窗口</a:t>
            </a:r>
          </a:p>
          <a:p>
            <a:pPr algn="l">
              <a:spcAft>
                <a:spcPts val="600"/>
              </a:spcAft>
            </a:pPr>
            <a:r>
              <a:rPr sz="1400" b="0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·  第 4 步：目标项目进入/准备进入验证</a:t>
            </a:r>
          </a:p>
          <a:p>
            <a:pPr algn="l">
              <a:spcAft>
                <a:spcPts val="600"/>
              </a:spcAft>
            </a:pPr>
            <a:r>
              <a:rPr sz="1400" b="0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·  5–6 步：纳入漏斗管理，不提前报喜</a:t>
            </a:r>
          </a:p>
          <a:p>
            <a:pPr algn="l">
              <a:spcAft>
                <a:spcPts val="600"/>
              </a:spcAft>
            </a:pPr>
            <a:r>
              <a:rPr sz="1400" b="0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·  每周更新状态，红灯当周升级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3566160"/>
            <a:ext cx="5440680" cy="2468880"/>
          </a:xfrm>
          <a:prstGeom prst="roundRect">
            <a:avLst>
              <a:gd name="adj" fmla="val 8000"/>
            </a:avLst>
          </a:prstGeom>
          <a:solidFill>
            <a:srgbClr val="F4EEE0"/>
          </a:solidFill>
          <a:ln w="12700">
            <a:solidFill>
              <a:srgbClr val="D8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37490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cs typeface="Microsoft YaHei"/>
                <a:ea typeface="Microsoft YaHei"/>
                <a:solidFill>
                  <a:srgbClr val="B8954A"/>
                </a:solidFill>
                <a:latin typeface="Microsoft YaHei"/>
              </a:rPr>
              <a:t>主攻卡位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420624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·  手机前置 / 功能摄等 2M 规格档</a:t>
            </a:r>
          </a:p>
          <a:p>
            <a:pPr algn="l">
              <a:spcAft>
                <a:spcPts val="600"/>
              </a:spcAft>
            </a:pPr>
            <a:r>
              <a:rPr sz="1400" b="0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·  对标格科、思特威等成熟料做第二源</a:t>
            </a:r>
          </a:p>
          <a:p>
            <a:pPr algn="l">
              <a:spcAft>
                <a:spcPts val="600"/>
              </a:spcAft>
            </a:pPr>
            <a:r>
              <a:rPr sz="1400" b="0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·  话术：供给弹性、导入服务、风险对冲</a:t>
            </a:r>
          </a:p>
          <a:p>
            <a:pPr algn="l">
              <a:spcAft>
                <a:spcPts val="600"/>
              </a:spcAft>
            </a:pPr>
            <a:r>
              <a:rPr sz="1400" b="0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·  不硬刚像素纸面参数，打「可落地」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B89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试用期成果盘点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用可核验的过程结果说话。定点与收入作为下一阶段指标，不在试用期夸大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9326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转正答辩  ·  CIS 销售经理  ·  华勤手机业务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6539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8 / 16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078992"/>
          <a:ext cx="111556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463040"/>
                <a:gridCol w="5852160"/>
              </a:tblGrid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cs typeface="Microsoft YaHei"/>
                          <a:ea typeface="Microsoft YaHei"/>
                          <a:solidFill>
                            <a:srgbClr val="FFFFFF"/>
                          </a:solidFill>
                          <a:latin typeface="Microsoft YaHei"/>
                        </a:rPr>
                        <a:t>工作项</a:t>
                      </a:r>
                    </a:p>
                  </a:txBody>
                  <a:tcPr anchor="ctr">
                    <a:solidFill>
                      <a:srgbClr val="2A5A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cs typeface="Microsoft YaHei"/>
                          <a:ea typeface="Microsoft YaHei"/>
                          <a:solidFill>
                            <a:srgbClr val="FFFFFF"/>
                          </a:solidFill>
                          <a:latin typeface="Microsoft YaHei"/>
                        </a:rPr>
                        <a:t>状态</a:t>
                      </a:r>
                    </a:p>
                  </a:txBody>
                  <a:tcPr anchor="ctr">
                    <a:solidFill>
                      <a:srgbClr val="2A5A7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cs typeface="Microsoft YaHei"/>
                          <a:ea typeface="Microsoft YaHei"/>
                          <a:solidFill>
                            <a:srgbClr val="FFFFFF"/>
                          </a:solidFill>
                          <a:latin typeface="Microsoft YaHei"/>
                        </a:rPr>
                        <a:t>结果说明</a:t>
                      </a:r>
                    </a:p>
                  </a:txBody>
                  <a:tcPr anchor="ctr">
                    <a:solidFill>
                      <a:srgbClr val="2A5A73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cs typeface="Microsoft YaHei"/>
                          <a:ea typeface="Microsoft YaHei"/>
                          <a:solidFill>
                            <a:srgbClr val="1B2A3A"/>
                          </a:solidFill>
                          <a:latin typeface="Microsoft YaHei"/>
                        </a:rPr>
                        <a:t>华勤手机 CIS 组织与决策链地图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cs typeface="Microsoft YaHei"/>
                          <a:ea typeface="Microsoft YaHei"/>
                          <a:solidFill>
                            <a:srgbClr val="2F6B4F"/>
                          </a:solidFill>
                          <a:latin typeface="Microsoft YaHei"/>
                        </a:rPr>
                        <a:t>已完成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cs typeface="Microsoft YaHei"/>
                          <a:ea typeface="Microsoft YaHei"/>
                          <a:solidFill>
                            <a:srgbClr val="1B2A3A"/>
                          </a:solidFill>
                          <a:latin typeface="Microsoft YaHei"/>
                        </a:rPr>
                        <a:t>覆盖项目 / 硬件 / 影像 / 采购 / 质量，避免单点窗口</a:t>
                      </a:r>
                    </a:p>
                  </a:txBody>
                  <a:tcPr anchor="ctr"/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cs typeface="Microsoft YaHei"/>
                          <a:ea typeface="Microsoft YaHei"/>
                          <a:solidFill>
                            <a:srgbClr val="1B2A3A"/>
                          </a:solidFill>
                          <a:latin typeface="Microsoft YaHei"/>
                        </a:rPr>
                        <a:t>主对接 + 备份窗口</a:t>
                      </a:r>
                    </a:p>
                  </a:txBody>
                  <a:tcPr anchor="ctr">
                    <a:solidFill>
                      <a:srgbClr val="F3F1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cs typeface="Microsoft YaHei"/>
                          <a:ea typeface="Microsoft YaHei"/>
                          <a:solidFill>
                            <a:srgbClr val="2F6B4F"/>
                          </a:solidFill>
                          <a:latin typeface="Microsoft YaHei"/>
                        </a:rPr>
                        <a:t>已建立</a:t>
                      </a:r>
                    </a:p>
                  </a:txBody>
                  <a:tcPr anchor="ctr">
                    <a:solidFill>
                      <a:srgbClr val="F3F1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cs typeface="Microsoft YaHei"/>
                          <a:ea typeface="Microsoft YaHei"/>
                          <a:solidFill>
                            <a:srgbClr val="1B2A3A"/>
                          </a:solidFill>
                          <a:latin typeface="Microsoft YaHei"/>
                        </a:rPr>
                        <a:t>采购与项目双线，沟通节奏可周/双周维持</a:t>
                      </a:r>
                    </a:p>
                  </a:txBody>
                  <a:tcPr anchor="ctr">
                    <a:solidFill>
                      <a:srgbClr val="F3F1ED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cs typeface="Microsoft YaHei"/>
                          <a:ea typeface="Microsoft YaHei"/>
                          <a:solidFill>
                            <a:srgbClr val="1B2A3A"/>
                          </a:solidFill>
                          <a:latin typeface="Microsoft YaHei"/>
                        </a:rPr>
                        <a:t>在研机型摄像头规格与竞品卡位表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cs typeface="Microsoft YaHei"/>
                          <a:ea typeface="Microsoft YaHei"/>
                          <a:solidFill>
                            <a:srgbClr val="2F6B4F"/>
                          </a:solidFill>
                          <a:latin typeface="Microsoft YaHei"/>
                        </a:rPr>
                        <a:t>已输出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cs typeface="Microsoft YaHei"/>
                          <a:ea typeface="Microsoft YaHei"/>
                          <a:solidFill>
                            <a:srgbClr val="1B2A3A"/>
                          </a:solidFill>
                          <a:latin typeface="Microsoft YaHei"/>
                        </a:rPr>
                        <a:t>看清格科/思特威等在哪些像素档占位、窗口在哪</a:t>
                      </a:r>
                    </a:p>
                  </a:txBody>
                  <a:tcPr anchor="ctr"/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cs typeface="Microsoft YaHei"/>
                          <a:ea typeface="Microsoft YaHei"/>
                          <a:solidFill>
                            <a:srgbClr val="1B2A3A"/>
                          </a:solidFill>
                          <a:latin typeface="Microsoft YaHei"/>
                        </a:rPr>
                        <a:t>目标规格送样与 FAE 协同</a:t>
                      </a:r>
                    </a:p>
                  </a:txBody>
                  <a:tcPr anchor="ctr">
                    <a:solidFill>
                      <a:srgbClr val="F3F1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cs typeface="Microsoft YaHei"/>
                          <a:ea typeface="Microsoft YaHei"/>
                          <a:solidFill>
                            <a:srgbClr val="8A6A1A"/>
                          </a:solidFill>
                          <a:latin typeface="Microsoft YaHei"/>
                        </a:rPr>
                        <a:t>进行中</a:t>
                      </a:r>
                    </a:p>
                  </a:txBody>
                  <a:tcPr anchor="ctr">
                    <a:solidFill>
                      <a:srgbClr val="F3F1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cs typeface="Microsoft YaHei"/>
                          <a:ea typeface="Microsoft YaHei"/>
                          <a:solidFill>
                            <a:srgbClr val="1B2A3A"/>
                          </a:solidFill>
                          <a:latin typeface="Microsoft YaHei"/>
                        </a:rPr>
                        <a:t>资料包、陪访、问题闭环机制已跑通，验证结论跟进中</a:t>
                      </a:r>
                    </a:p>
                  </a:txBody>
                  <a:tcPr anchor="ctr">
                    <a:solidFill>
                      <a:srgbClr val="F3F1ED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cs typeface="Microsoft YaHei"/>
                          <a:ea typeface="Microsoft YaHei"/>
                          <a:solidFill>
                            <a:srgbClr val="1B2A3A"/>
                          </a:solidFill>
                          <a:latin typeface="Microsoft YaHei"/>
                        </a:rPr>
                        <a:t>项目漏斗（A/B/C）与周报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cs typeface="Microsoft YaHei"/>
                          <a:ea typeface="Microsoft YaHei"/>
                          <a:solidFill>
                            <a:srgbClr val="2F6B4F"/>
                          </a:solidFill>
                          <a:latin typeface="Microsoft YaHei"/>
                        </a:rPr>
                        <a:t>已建立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cs typeface="Microsoft YaHei"/>
                          <a:ea typeface="Microsoft YaHei"/>
                          <a:solidFill>
                            <a:srgbClr val="1B2A3A"/>
                          </a:solidFill>
                          <a:latin typeface="Microsoft YaHei"/>
                        </a:rPr>
                        <a:t>红黄绿状态，内部对齐，不报喜藏忧</a:t>
                      </a:r>
                    </a:p>
                  </a:txBody>
                  <a:tcPr anchor="ctr"/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cs typeface="Microsoft YaHei"/>
                          <a:ea typeface="Microsoft YaHei"/>
                          <a:solidFill>
                            <a:srgbClr val="1B2A3A"/>
                          </a:solidFill>
                          <a:latin typeface="Microsoft YaHei"/>
                        </a:rPr>
                        <a:t>华勤账号作战手册初稿</a:t>
                      </a:r>
                    </a:p>
                  </a:txBody>
                  <a:tcPr anchor="ctr">
                    <a:solidFill>
                      <a:srgbClr val="F3F1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cs typeface="Microsoft YaHei"/>
                          <a:ea typeface="Microsoft YaHei"/>
                          <a:solidFill>
                            <a:srgbClr val="2F6B4F"/>
                          </a:solidFill>
                          <a:latin typeface="Microsoft YaHei"/>
                        </a:rPr>
                        <a:t>已形成</a:t>
                      </a:r>
                    </a:p>
                  </a:txBody>
                  <a:tcPr anchor="ctr">
                    <a:solidFill>
                      <a:srgbClr val="F3F1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cs typeface="Microsoft YaHei"/>
                          <a:ea typeface="Microsoft YaHei"/>
                          <a:solidFill>
                            <a:srgbClr val="1B2A3A"/>
                          </a:solidFill>
                          <a:latin typeface="Microsoft YaHei"/>
                        </a:rPr>
                        <a:t>决策链、话术、导入节奏、风险清单可交接、可复制</a:t>
                      </a:r>
                    </a:p>
                  </a:txBody>
                  <a:tcPr anchor="ctr">
                    <a:solidFill>
                      <a:srgbClr val="F3F1ED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cs typeface="Microsoft YaHei"/>
                          <a:ea typeface="Microsoft YaHei"/>
                          <a:solidFill>
                            <a:srgbClr val="1B2A3A"/>
                          </a:solidFill>
                          <a:latin typeface="Microsoft YaHei"/>
                        </a:rPr>
                        <a:t>品牌方 AVL 窗口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cs typeface="Microsoft YaHei"/>
                          <a:ea typeface="Microsoft YaHei"/>
                          <a:solidFill>
                            <a:srgbClr val="8B4A3C"/>
                          </a:solidFill>
                          <a:latin typeface="Microsoft YaHei"/>
                        </a:rPr>
                        <a:t>未打开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cs typeface="Microsoft YaHei"/>
                          <a:ea typeface="Microsoft YaHei"/>
                          <a:solidFill>
                            <a:srgbClr val="1B2A3A"/>
                          </a:solidFill>
                          <a:latin typeface="Microsoft YaHei"/>
                        </a:rPr>
                        <a:t>已识别约束，作为转正后 90 天重点，不回避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B89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协同方式：销售对节点负责，FAE 对技术结论负责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试用期刻意避免「销售自己讲参数、FAE 自己跟客户」两张皮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9326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转正答辩  ·  CIS 销售经理  ·  华勤手机业务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6539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9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43000"/>
            <a:ext cx="553212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cs typeface="Microsoft YaHei"/>
                <a:ea typeface="Microsoft YaHei"/>
                <a:solidFill>
                  <a:srgbClr val="2A5A73"/>
                </a:solidFill>
                <a:latin typeface="Microsoft YaHei"/>
              </a:rPr>
              <a:t>销售 × FAE 工作约定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·  拜访前：规格问题清单，不空跑</a:t>
            </a:r>
          </a:p>
          <a:p>
            <a:pPr algn="l">
              <a:spcAft>
                <a:spcPts val="1000"/>
              </a:spcAft>
            </a:pPr>
            <a:r>
              <a:rPr sz="1500" b="0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·  现场：销售控议程，FAE 答技术</a:t>
            </a:r>
          </a:p>
          <a:p>
            <a:pPr algn="l">
              <a:spcAft>
                <a:spcPts val="1000"/>
              </a:spcAft>
            </a:pPr>
            <a:r>
              <a:rPr sz="1500" b="0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·  当天：纪要含问题、责任人、截止日</a:t>
            </a:r>
          </a:p>
          <a:p>
            <a:pPr algn="l">
              <a:spcAft>
                <a:spcPts val="1000"/>
              </a:spcAft>
            </a:pPr>
            <a:r>
              <a:rPr sz="1500" b="0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·  48 小时：技术问题给到书面回复</a:t>
            </a:r>
          </a:p>
          <a:p>
            <a:pPr algn="l">
              <a:spcAft>
                <a:spcPts val="1000"/>
              </a:spcAft>
            </a:pPr>
            <a:r>
              <a:rPr sz="1500" b="0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·  升级：卡住节点当周进内部会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143000"/>
            <a:ext cx="544068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3716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cs typeface="Microsoft YaHei"/>
                <a:ea typeface="Microsoft YaHei"/>
                <a:solidFill>
                  <a:srgbClr val="B8954A"/>
                </a:solidFill>
                <a:latin typeface="Microsoft YaHei"/>
              </a:rPr>
              <a:t>对内对外同一套事实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96596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·  客户要的是「能不能赶上这台机」</a:t>
            </a:r>
          </a:p>
          <a:p>
            <a:pPr algn="l">
              <a:spcAft>
                <a:spcPts val="1000"/>
              </a:spcAft>
            </a:pPr>
            <a:r>
              <a:rPr sz="1500" b="0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·  内部要的是「问题是否可关闭」</a:t>
            </a:r>
          </a:p>
          <a:p>
            <a:pPr algn="l">
              <a:spcAft>
                <a:spcPts val="1000"/>
              </a:spcAft>
            </a:pPr>
            <a:r>
              <a:rPr sz="1500" b="0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·  导入风险提前讲：封装、CRA、OTP、上电时序，不把问题留到验证后期</a:t>
            </a:r>
          </a:p>
          <a:p>
            <a:pPr algn="l">
              <a:spcAft>
                <a:spcPts val="1000"/>
              </a:spcAft>
            </a:pPr>
            <a:r>
              <a:rPr sz="1500" b="0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·  竞品动态进周报，供产品与计划决策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B89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试用期未完成项与原因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转正答辩把短板放桌上，比把漏斗画满更重要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9326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转正答辩  ·  CIS 销售经理  ·  华勤手机业务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6539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10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43000"/>
            <a:ext cx="557784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143000"/>
            <a:ext cx="109728" cy="2240280"/>
          </a:xfrm>
          <a:prstGeom prst="rect">
            <a:avLst/>
          </a:prstGeom>
          <a:solidFill>
            <a:srgbClr val="8B4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39903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品牌 AVL 尚未突破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920240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华勤可推荐，但品牌短名单不打开，项目到不了定点。试用期优先把 ODM 侧盘清，品牌窗口列入 90 天计划。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143000"/>
            <a:ext cx="557784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59" y="1143000"/>
            <a:ext cx="109728" cy="2240280"/>
          </a:xfrm>
          <a:prstGeom prst="rect">
            <a:avLst/>
          </a:prstGeom>
          <a:solidFill>
            <a:srgbClr val="8B4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19" y="139903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尚无量产定点可报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19" y="1920240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手机 CIS 导入周期长于试用期。评价应用漏斗质量、验证进度、客情厚度，而不是用尚未发生的收入。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611880"/>
            <a:ext cx="557784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611880"/>
            <a:ext cx="109728" cy="2240280"/>
          </a:xfrm>
          <a:prstGeom prst="rect">
            <a:avLst/>
          </a:prstGeom>
          <a:solidFill>
            <a:srgbClr val="8B4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86791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商务深度不够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389120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价格、账期、供给承诺还需要与产品、计划形成华勤专用口径，避免现场口头承诺。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3611880"/>
            <a:ext cx="557784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59" y="3611880"/>
            <a:ext cx="109728" cy="2240280"/>
          </a:xfrm>
          <a:prstGeom prst="rect">
            <a:avLst/>
          </a:prstGeom>
          <a:solidFill>
            <a:srgbClr val="8B4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19" y="386791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技术陪访依赖 FAE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19" y="4389120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常规规格已能讲，OTP/IQ 细节仍需 FAE。转正后要能独立完成 70% 的售前问答，复杂问题再升级。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B89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自我评价：六个维度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评自己，也给评委一个打分框架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9326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转正答辩  ·  CIS 销售经理  ·  华勤手机业务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6539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11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43000"/>
            <a:ext cx="361188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3990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客户洞察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1435608"/>
            <a:ext cx="1005840" cy="329184"/>
          </a:xfrm>
          <a:prstGeom prst="roundRect">
            <a:avLst>
              <a:gd name="adj" fmla="val 30000"/>
            </a:avLst>
          </a:prstGeom>
          <a:solidFill>
            <a:srgbClr val="F4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1453896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cs typeface="Microsoft YaHei"/>
                <a:ea typeface="Microsoft YaHei"/>
                <a:solidFill>
                  <a:srgbClr val="B8954A"/>
                </a:solidFill>
                <a:latin typeface="Microsoft YaHei"/>
              </a:rPr>
              <a:t>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96596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能把华勤三层结构讲清楚，知道决策链和品牌约束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143000"/>
            <a:ext cx="361188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3990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目标管理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1435608"/>
            <a:ext cx="1005840" cy="329184"/>
          </a:xfrm>
          <a:prstGeom prst="roundRect">
            <a:avLst>
              <a:gd name="adj" fmla="val 30000"/>
            </a:avLst>
          </a:prstGeom>
          <a:solidFill>
            <a:srgbClr val="F4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453896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cs typeface="Microsoft YaHei"/>
                <a:ea typeface="Microsoft YaHei"/>
                <a:solidFill>
                  <a:srgbClr val="B8954A"/>
                </a:solidFill>
                <a:latin typeface="Microsoft YaHei"/>
              </a:rPr>
              <a:t>中+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196596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漏斗和周报已建立；A 类项目节点还要更细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143000"/>
            <a:ext cx="361188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2" y="13990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沟通协同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24160" y="1435608"/>
            <a:ext cx="1005840" cy="329184"/>
          </a:xfrm>
          <a:prstGeom prst="roundRect">
            <a:avLst>
              <a:gd name="adj" fmla="val 30000"/>
            </a:avLst>
          </a:prstGeom>
          <a:solidFill>
            <a:srgbClr val="F4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0" y="1453896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cs typeface="Microsoft YaHei"/>
                <a:ea typeface="Microsoft YaHei"/>
                <a:solidFill>
                  <a:srgbClr val="B8954A"/>
                </a:solidFill>
                <a:latin typeface="Microsoft YaHei"/>
              </a:rPr>
              <a:t>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196596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对内对外同一套事实，FAE 约定可执行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611880"/>
            <a:ext cx="361188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38679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专业能力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34640" y="3904488"/>
            <a:ext cx="1005840" cy="329184"/>
          </a:xfrm>
          <a:prstGeom prst="roundRect">
            <a:avLst>
              <a:gd name="adj" fmla="val 30000"/>
            </a:avLst>
          </a:prstGeom>
          <a:solidFill>
            <a:srgbClr val="F4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34640" y="3922776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cs typeface="Microsoft YaHei"/>
                <a:ea typeface="Microsoft YaHei"/>
                <a:solidFill>
                  <a:srgbClr val="B8954A"/>
                </a:solidFill>
                <a:latin typeface="Microsoft YaHei"/>
              </a:rPr>
              <a:t>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44348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规格与导入流程已入门，IQ/OTP 仍需加强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3611880"/>
            <a:ext cx="361188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53712" y="38679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抗压担当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29400" y="3904488"/>
            <a:ext cx="1005840" cy="329184"/>
          </a:xfrm>
          <a:prstGeom prst="roundRect">
            <a:avLst>
              <a:gd name="adj" fmla="val 30000"/>
            </a:avLst>
          </a:prstGeom>
          <a:solidFill>
            <a:srgbClr val="F4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3922776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cs typeface="Microsoft YaHei"/>
                <a:ea typeface="Microsoft YaHei"/>
                <a:solidFill>
                  <a:srgbClr val="B8954A"/>
                </a:solidFill>
                <a:latin typeface="Microsoft YaHei"/>
              </a:rPr>
              <a:t>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3712" y="44348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长周期、多角色，不把问题藏到月底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92440" y="3611880"/>
            <a:ext cx="361188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48472" y="38679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结果导向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424160" y="3904488"/>
            <a:ext cx="1005840" cy="329184"/>
          </a:xfrm>
          <a:prstGeom prst="roundRect">
            <a:avLst>
              <a:gd name="adj" fmla="val 30000"/>
            </a:avLst>
          </a:prstGeom>
          <a:solidFill>
            <a:srgbClr val="F4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24160" y="3922776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cs typeface="Microsoft YaHei"/>
                <a:ea typeface="Microsoft YaHei"/>
                <a:solidFill>
                  <a:srgbClr val="B8954A"/>
                </a:solidFill>
                <a:latin typeface="Microsoft YaHei"/>
              </a:rPr>
              <a:t>中+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48472" y="44348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过程结果扎实；经营结果要靠下一阶段验证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B89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综合评价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结论先讲：匹配这个岗位，转正后要用项目结果把过程能力兑现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9326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转正答辩  ·  CIS 销售经理  ·  华勤手机业务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6539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12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43000"/>
            <a:ext cx="11155680" cy="1234440"/>
          </a:xfrm>
          <a:prstGeom prst="roundRect">
            <a:avLst>
              <a:gd name="adj" fmla="val 8000"/>
            </a:avLst>
          </a:prstGeom>
          <a:solidFill>
            <a:srgbClr val="E8F0F4"/>
          </a:solidFill>
          <a:ln w="12700">
            <a:solidFill>
              <a:srgbClr val="D8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胜任判断：能在华勤这种多层决策的 ODM 账号上，把 CIS 销售做成「可管理的项目」，而不是个人关系或一次性送样。这是转正的基本盘。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5577840" cy="3383280"/>
          </a:xfrm>
          <a:prstGeom prst="roundRect">
            <a:avLst>
              <a:gd name="adj" fmla="val 8000"/>
            </a:avLst>
          </a:prstGeom>
          <a:solidFill>
            <a:srgbClr val="E8EEE6"/>
          </a:solidFill>
          <a:ln w="12700">
            <a:solidFill>
              <a:srgbClr val="D8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889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适合留下的理由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9184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·  客户结构理解快，不把 ODM 当渠道批发</a:t>
            </a:r>
          </a:p>
          <a:p>
            <a:pPr algn="l">
              <a:spcAft>
                <a:spcPts val="800"/>
              </a:spcAft>
            </a:pPr>
            <a:r>
              <a:rPr sz="1500" b="0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·  执行闭环清楚：纪要、责任人、升级</a:t>
            </a:r>
          </a:p>
          <a:p>
            <a:pPr algn="l">
              <a:spcAft>
                <a:spcPts val="800"/>
              </a:spcAft>
            </a:pPr>
            <a:r>
              <a:rPr sz="1500" b="0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·  对数字诚实，不把漏斗当业绩</a:t>
            </a:r>
          </a:p>
          <a:p>
            <a:pPr algn="l">
              <a:spcAft>
                <a:spcPts val="800"/>
              </a:spcAft>
            </a:pPr>
            <a:r>
              <a:rPr sz="1500" b="0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·  愿意补专业，不与 FAE 抢结论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2606040"/>
            <a:ext cx="5577840" cy="3383280"/>
          </a:xfrm>
          <a:prstGeom prst="roundRect">
            <a:avLst>
              <a:gd name="adj" fmla="val 8000"/>
            </a:avLst>
          </a:prstGeom>
          <a:solidFill>
            <a:srgbClr val="F4EBE8"/>
          </a:solidFill>
          <a:ln w="12700">
            <a:solidFill>
              <a:srgbClr val="D8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399" y="27889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必须补齐的短板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399" y="329184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·  品牌侧渗透几乎为零</a:t>
            </a:r>
          </a:p>
          <a:p>
            <a:pPr algn="l">
              <a:spcAft>
                <a:spcPts val="800"/>
              </a:spcAft>
            </a:pPr>
            <a:r>
              <a:rPr sz="1500" b="0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·  独立商务谈判经验不足</a:t>
            </a:r>
          </a:p>
          <a:p>
            <a:pPr algn="l">
              <a:spcAft>
                <a:spcPts val="800"/>
              </a:spcAft>
            </a:pPr>
            <a:r>
              <a:rPr sz="1500" b="0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·  技术问答还不能独立覆盖</a:t>
            </a:r>
          </a:p>
          <a:p>
            <a:pPr algn="l">
              <a:spcAft>
                <a:spcPts val="800"/>
              </a:spcAft>
            </a:pPr>
            <a:r>
              <a:rPr sz="1500" b="0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·  A 类项目的周节点仍偏粗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B89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未来 90 天：四件必须发生的事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转正后第一个季度，用节点而不是愿望考核自己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9326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转正答辩  ·  CIS 销售经理  ·  华勤手机业务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6539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13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15568"/>
            <a:ext cx="1115568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3560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cs typeface="Microsoft YaHei"/>
                <a:ea typeface="Microsoft YaHei"/>
                <a:solidFill>
                  <a:srgbClr val="B8954A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28016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验证出结论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664208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至少 1 个目标项目完成模组/IQ 验证，形成书面结论（过 / 有条件过 / 不过及原因）。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350008"/>
            <a:ext cx="1115568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7004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cs typeface="Microsoft YaHei"/>
                <a:ea typeface="Microsoft YaHei"/>
                <a:solidFill>
                  <a:srgbClr val="B8954A"/>
                </a:solidFill>
                <a:latin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51460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品牌线索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898648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画出品牌—华勤—模组三方图，拿到至少 1 个品牌侧或品牌指定模组的有效窗口线索。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584448"/>
            <a:ext cx="1115568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90448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cs typeface="Microsoft YaHei"/>
                <a:ea typeface="Microsoft YaHei"/>
                <a:solidFill>
                  <a:srgbClr val="B8954A"/>
                </a:solidFill>
                <a:latin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74904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商务口径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133088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与产品、计划锁定华勤专用报价、交期、供给原则，现场不再口头承诺。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818888"/>
            <a:ext cx="1115568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13892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cs typeface="Microsoft YaHei"/>
                <a:ea typeface="Microsoft YaHei"/>
                <a:solidFill>
                  <a:srgbClr val="B8954A"/>
                </a:solidFill>
                <a:latin typeface="Microsoft YaHe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9834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机制固化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5367528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华勤项目月评：漏斗、风险、FAE 资源、下一步动作，形成公司可看见的账号经营。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B89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未来 12 个月：把华勤做成样板账号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样板的意思是：可复制方法，而不只是「我跟过一个客户」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9326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转正答辩  ·  CIS 销售经理  ·  华勤手机业务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6539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14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15568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3441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cs typeface="Microsoft YaHei"/>
                <a:ea typeface="Microsoft YaHei"/>
                <a:solidFill>
                  <a:srgbClr val="2A5A73"/>
                </a:solidFill>
                <a:latin typeface="Microsoft YaHei"/>
              </a:rPr>
              <a:t>项目结果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847088"/>
            <a:ext cx="3108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1 个项目进入试产或定点路径；2–3 个项目稳定在验证池；杜绝只有拜访没有下一节点的空账号。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115568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3441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cs typeface="Microsoft YaHei"/>
                <a:ea typeface="Microsoft YaHei"/>
                <a:solidFill>
                  <a:srgbClr val="2A5A73"/>
                </a:solidFill>
                <a:latin typeface="Microsoft YaHei"/>
              </a:rPr>
              <a:t>关系结构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847088"/>
            <a:ext cx="3108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从单一窗口升级到项目组级关系：采购、硬件、影像、质量都有可对话的人，且有备份。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115568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2" y="13441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cs typeface="Microsoft YaHei"/>
                <a:ea typeface="Microsoft YaHei"/>
                <a:solidFill>
                  <a:srgbClr val="2A5A73"/>
                </a:solidFill>
                <a:latin typeface="Microsoft YaHei"/>
              </a:rPr>
              <a:t>产品策略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2" y="1847088"/>
            <a:ext cx="3108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以 2M 等可切入规格做第二源破口，再向华勤在研更高规格机型要验证机会，不一次铺太多料号。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30168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38587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cs typeface="Microsoft YaHei"/>
                <a:ea typeface="Microsoft YaHei"/>
                <a:solidFill>
                  <a:srgbClr val="2A5A73"/>
                </a:solidFill>
                <a:latin typeface="Microsoft YaHei"/>
              </a:rPr>
              <a:t>组织资产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4361688"/>
            <a:ext cx="3108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沉淀《华勤 CIS 导入包》：规格对照、setting、OTP/封装注意事项、FAQ、竞品卡位，可交接。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630168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53712" y="38587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cs typeface="Microsoft YaHei"/>
                <a:ea typeface="Microsoft YaHei"/>
                <a:solidFill>
                  <a:srgbClr val="2A5A73"/>
                </a:solidFill>
                <a:latin typeface="Microsoft YaHei"/>
              </a:rPr>
              <a:t>外溢价值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4361688"/>
            <a:ext cx="3108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打法复制到同类手机 ODM（如有规划），销售经理从「管一个客户」变成「管一类战场」。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3630168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48472" y="38587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cs typeface="Microsoft YaHei"/>
                <a:ea typeface="Microsoft YaHei"/>
                <a:solidFill>
                  <a:srgbClr val="2A5A73"/>
                </a:solidFill>
                <a:latin typeface="Microsoft YaHei"/>
              </a:rPr>
              <a:t>自我能力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8472" y="4361688"/>
            <a:ext cx="3108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独立完成 70% 售前；复杂 IQ 仍协同 FAE；能主持华勤月度项目会。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B89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转正承诺与支持诉求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承诺可被检查；支持对应 90 天目标，不是要资源的空话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9326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转正答辩  ·  CIS 销售经理  ·  华勤手机业务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6539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cs typeface="Microsoft YaHei"/>
                <a:ea typeface="Microsoft YaHei"/>
                <a:solidFill>
                  <a:srgbClr val="5C6B7A"/>
                </a:solidFill>
                <a:latin typeface="Microsoft YaHei"/>
              </a:rPr>
              <a:t>15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15568"/>
            <a:ext cx="5577840" cy="4892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cs typeface="Microsoft YaHei"/>
                <a:ea typeface="Microsoft YaHei"/>
                <a:solidFill>
                  <a:srgbClr val="2A5A73"/>
                </a:solidFill>
                <a:latin typeface="Microsoft YaHei"/>
              </a:rPr>
              <a:t>我承诺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74519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·  华勤项目状态周更新，红灯当周升级</a:t>
            </a:r>
          </a:p>
          <a:p>
            <a:pPr algn="l">
              <a:spcAft>
                <a:spcPts val="1000"/>
              </a:spcAft>
            </a:pPr>
            <a:r>
              <a:rPr sz="1500" b="0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·  对外口径与对内事实一致，不藏风险</a:t>
            </a:r>
          </a:p>
          <a:p>
            <a:pPr algn="l">
              <a:spcAft>
                <a:spcPts val="1000"/>
              </a:spcAft>
            </a:pPr>
            <a:r>
              <a:rPr sz="1500" b="0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·  不把送样数当业绩，只认下一节点</a:t>
            </a:r>
          </a:p>
          <a:p>
            <a:pPr algn="l">
              <a:spcAft>
                <a:spcPts val="1000"/>
              </a:spcAft>
            </a:pPr>
            <a:r>
              <a:rPr sz="1500" b="0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·  90 天四件事按月复盘，未完成说明原因和下一步</a:t>
            </a:r>
          </a:p>
          <a:p>
            <a:pPr algn="l">
              <a:spcAft>
                <a:spcPts val="1000"/>
              </a:spcAft>
            </a:pPr>
            <a:r>
              <a:rPr sz="1500" b="0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·  与 FAE 按约定分工，不甩锅、不抢功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115568"/>
            <a:ext cx="5440680" cy="4892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cs typeface="Microsoft YaHei"/>
                <a:ea typeface="Microsoft YaHei"/>
                <a:solidFill>
                  <a:srgbClr val="B8954A"/>
                </a:solidFill>
                <a:latin typeface="Microsoft YaHei"/>
              </a:rPr>
              <a:t>请公司支持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74519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·  产品：明确可主推华勤的规格与 roadmap 时间</a:t>
            </a:r>
          </a:p>
          <a:p>
            <a:pPr algn="l">
              <a:spcAft>
                <a:spcPts val="1000"/>
              </a:spcAft>
            </a:pPr>
            <a:r>
              <a:rPr sz="1500" b="0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·  FAE：华勤验证期保证档期，问题 48h 响应</a:t>
            </a:r>
          </a:p>
          <a:p>
            <a:pPr algn="l">
              <a:spcAft>
                <a:spcPts val="1000"/>
              </a:spcAft>
            </a:pPr>
            <a:r>
              <a:rPr sz="1500" b="0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·  商务：第二源价格与供给策略，能进短名单</a:t>
            </a:r>
          </a:p>
          <a:p>
            <a:pPr algn="l">
              <a:spcAft>
                <a:spcPts val="1000"/>
              </a:spcAft>
            </a:pPr>
            <a:r>
              <a:rPr sz="1500" b="0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·  必要时协助品牌侧协同，避免只在 ODM 空转</a:t>
            </a:r>
          </a:p>
          <a:p>
            <a:pPr algn="l">
              <a:spcAft>
                <a:spcPts val="1000"/>
              </a:spcAft>
            </a:pPr>
            <a:r>
              <a:rPr sz="1500" b="0">
                <a:cs typeface="Microsoft YaHei"/>
                <a:ea typeface="Microsoft YaHei"/>
                <a:solidFill>
                  <a:srgbClr val="1B2A3A"/>
                </a:solidFill>
                <a:latin typeface="Microsoft YaHei"/>
              </a:rPr>
              <a:t>·  质量/交付：导入风险清单与我同步对外讲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B89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B89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cs typeface="Microsoft YaHei"/>
                <a:ea typeface="Microsoft YaHei"/>
                <a:solidFill>
                  <a:srgbClr val="FFFFFF"/>
                </a:solidFill>
                <a:latin typeface="Microsoft YaHei"/>
              </a:rPr>
              <a:t>请批评指正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cs typeface="Microsoft YaHei"/>
                <a:ea typeface="Microsoft YaHei"/>
                <a:solidFill>
                  <a:srgbClr val="C5D0D8"/>
                </a:solidFill>
                <a:latin typeface="Microsoft YaHei"/>
              </a:rPr>
              <a:t>试用期把华勤的结构和漏斗立起来了。转正后，用验证结论和定点路径，把这个账号做成公司手机 CIS 的样板。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114800"/>
            <a:ext cx="2011680" cy="73152"/>
          </a:xfrm>
          <a:prstGeom prst="roundRect">
            <a:avLst>
              <a:gd name="adj" fmla="val 0"/>
            </a:avLst>
          </a:prstGeom>
          <a:solidFill>
            <a:srgbClr val="B89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434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cs typeface="Microsoft YaHei"/>
                <a:ea typeface="Microsoft YaHei"/>
                <a:solidFill>
                  <a:srgbClr val="B8954A"/>
                </a:solidFill>
                <a:latin typeface="Microsoft YaHei"/>
              </a:rPr>
              <a:t>CIS 销售经理  ·  华勤手机业务</a:t>
            </a:r>
          </a:p>
          <a:p>
            <a:pPr algn="l">
              <a:spcAft>
                <a:spcPts val="600"/>
              </a:spcAft>
            </a:pPr>
            <a:r>
              <a:rPr sz="1400" b="0">
                <a:cs typeface="Microsoft YaHei"/>
                <a:ea typeface="Microsoft YaHei"/>
                <a:solidFill>
                  <a:srgbClr val="B8954A"/>
                </a:solidFill>
                <a:latin typeface="Microsoft YaHei"/>
              </a:rPr>
              <a:t>谢谢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